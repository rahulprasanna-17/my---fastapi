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361" r:id="rId3"/>
    <p:sldId id="310" r:id="rId4"/>
    <p:sldId id="359" r:id="rId5"/>
    <p:sldId id="352" r:id="rId6"/>
    <p:sldId id="311" r:id="rId7"/>
    <p:sldId id="312" r:id="rId8"/>
    <p:sldId id="343" r:id="rId9"/>
    <p:sldId id="353" r:id="rId10"/>
    <p:sldId id="355" r:id="rId11"/>
    <p:sldId id="360" r:id="rId12"/>
    <p:sldId id="35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91" autoAdjust="0"/>
    <p:restoredTop sz="94660"/>
  </p:normalViewPr>
  <p:slideViewPr>
    <p:cSldViewPr snapToGrid="0">
      <p:cViewPr>
        <p:scale>
          <a:sx n="75" d="100"/>
          <a:sy n="75" d="100"/>
        </p:scale>
        <p:origin x="821"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27A36F9-A1B2-4C3A-B88F-B9E846BCE5B8}" type="datetimeFigureOut">
              <a:rPr lang="en-IN" smtClean="0"/>
              <a:t>07-04-2026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09D3980F-671F-4F38-B220-369C8F264260}"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1303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7A36F9-A1B2-4C3A-B88F-B9E846BCE5B8}"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D3980F-671F-4F38-B220-369C8F264260}"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4966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7A36F9-A1B2-4C3A-B88F-B9E846BCE5B8}"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D3980F-671F-4F38-B220-369C8F264260}"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5532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7A36F9-A1B2-4C3A-B88F-B9E846BCE5B8}"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D3980F-671F-4F38-B220-369C8F264260}"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0433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7A36F9-A1B2-4C3A-B88F-B9E846BCE5B8}" type="datetimeFigureOut">
              <a:rPr lang="en-IN" smtClean="0"/>
              <a:t>07-04-2026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9D3980F-671F-4F38-B220-369C8F264260}"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50063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7A36F9-A1B2-4C3A-B88F-B9E846BCE5B8}" type="datetimeFigureOut">
              <a:rPr lang="en-IN" smtClean="0"/>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9D3980F-671F-4F38-B220-369C8F264260}"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94577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7A36F9-A1B2-4C3A-B88F-B9E846BCE5B8}" type="datetimeFigureOut">
              <a:rPr lang="en-IN" smtClean="0"/>
              <a:t>07-04-2026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9D3980F-671F-4F38-B220-369C8F264260}" type="slidenum">
              <a:rPr lang="en-IN" smtClean="0"/>
              <a:t>‹#›</a:t>
            </a:fld>
            <a:endParaRPr lang="en-IN"/>
          </a:p>
        </p:txBody>
      </p:sp>
    </p:spTree>
    <p:extLst>
      <p:ext uri="{BB962C8B-B14F-4D97-AF65-F5344CB8AC3E}">
        <p14:creationId xmlns:p14="http://schemas.microsoft.com/office/powerpoint/2010/main" val="4103002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27A36F9-A1B2-4C3A-B88F-B9E846BCE5B8}"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D3980F-671F-4F38-B220-369C8F264260}"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6344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27A36F9-A1B2-4C3A-B88F-B9E846BCE5B8}" type="datetimeFigureOut">
              <a:rPr lang="en-IN" smtClean="0"/>
              <a:t>07-04-2026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09D3980F-671F-4F38-B220-369C8F264260}"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11169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7A36F9-A1B2-4C3A-B88F-B9E846BCE5B8}"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D3980F-671F-4F38-B220-369C8F264260}"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2546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7A36F9-A1B2-4C3A-B88F-B9E846BCE5B8}"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D3980F-671F-4F38-B220-369C8F264260}"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03186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27A36F9-A1B2-4C3A-B88F-B9E846BCE5B8}" type="datetimeFigureOut">
              <a:rPr lang="en-IN" smtClean="0"/>
              <a:t>07-04-2026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9D3980F-671F-4F38-B220-369C8F264260}"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31086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A790B-2E22-4515-B6AF-7B9CC9418304}"/>
              </a:ext>
            </a:extLst>
          </p:cNvPr>
          <p:cNvSpPr>
            <a:spLocks noGrp="1"/>
          </p:cNvSpPr>
          <p:nvPr>
            <p:ph type="ctrTitle" idx="4294967295"/>
          </p:nvPr>
        </p:nvSpPr>
        <p:spPr>
          <a:xfrm>
            <a:off x="0" y="784225"/>
            <a:ext cx="11360150" cy="6279048"/>
          </a:xfrm>
        </p:spPr>
        <p:txBody>
          <a:bodyPr>
            <a:normAutofit/>
          </a:bodyPr>
          <a:lstStyle/>
          <a:p>
            <a:pPr algn="ctr"/>
            <a:r>
              <a:rPr lang="en-US" sz="3600" b="1" dirty="0">
                <a:latin typeface="Cambria" panose="02040503050406030204" pitchFamily="18" charset="0"/>
                <a:ea typeface="Cambria" panose="02040503050406030204" pitchFamily="18" charset="0"/>
              </a:rPr>
              <a:t>Remote Exam Integrity through Advanced AI and Camera Vision</a:t>
            </a:r>
            <a:br>
              <a:rPr lang="en-US" sz="3600" b="1" dirty="0">
                <a:latin typeface="Cambria" panose="02040503050406030204" pitchFamily="18" charset="0"/>
                <a:ea typeface="Cambria" panose="02040503050406030204" pitchFamily="18" charset="0"/>
              </a:rPr>
            </a:br>
            <a:r>
              <a:rPr lang="en-US" sz="3600" b="1" dirty="0">
                <a:latin typeface="Cambria" panose="02040503050406030204" pitchFamily="18" charset="0"/>
                <a:ea typeface="Cambria" panose="02040503050406030204" pitchFamily="18" charset="0"/>
              </a:rPr>
              <a:t>Techniques</a:t>
            </a:r>
            <a:br>
              <a:rPr lang="en-US" sz="3600" b="1" dirty="0">
                <a:latin typeface="Cambria" panose="02040503050406030204" pitchFamily="18" charset="0"/>
                <a:ea typeface="Cambria" panose="02040503050406030204" pitchFamily="18" charset="0"/>
              </a:rPr>
            </a:br>
            <a:br>
              <a:rPr lang="en-US" sz="3600" b="1" dirty="0">
                <a:latin typeface="Cambria" panose="02040503050406030204" pitchFamily="18" charset="0"/>
                <a:ea typeface="Cambria" panose="02040503050406030204" pitchFamily="18" charset="0"/>
              </a:rPr>
            </a:br>
            <a:br>
              <a:rPr lang="en-US" sz="3600" b="1" dirty="0">
                <a:latin typeface="Cambria" panose="02040503050406030204" pitchFamily="18" charset="0"/>
                <a:ea typeface="Cambria" panose="02040503050406030204" pitchFamily="18" charset="0"/>
              </a:rPr>
            </a:br>
            <a:r>
              <a:rPr lang="en-US" sz="3600" b="1" dirty="0">
                <a:latin typeface="Cambria" panose="02040503050406030204" pitchFamily="18" charset="0"/>
                <a:ea typeface="Cambria" panose="02040503050406030204" pitchFamily="18" charset="0"/>
              </a:rPr>
              <a:t>SETHUBPATHY G V</a:t>
            </a:r>
            <a:br>
              <a:rPr lang="en-US" sz="3600" b="1" dirty="0">
                <a:latin typeface="Cambria" panose="02040503050406030204" pitchFamily="18" charset="0"/>
                <a:ea typeface="Cambria" panose="02040503050406030204" pitchFamily="18" charset="0"/>
              </a:rPr>
            </a:br>
            <a:r>
              <a:rPr lang="en-US" sz="3600" b="1" dirty="0">
                <a:latin typeface="Cambria" panose="02040503050406030204" pitchFamily="18" charset="0"/>
                <a:ea typeface="Cambria" panose="02040503050406030204" pitchFamily="18" charset="0"/>
              </a:rPr>
              <a:t>RA2432241010309</a:t>
            </a:r>
            <a:br>
              <a:rPr lang="en-US" sz="3600" b="1" dirty="0">
                <a:latin typeface="Cambria" panose="02040503050406030204" pitchFamily="18" charset="0"/>
                <a:ea typeface="Cambria" panose="02040503050406030204" pitchFamily="18" charset="0"/>
              </a:rPr>
            </a:br>
            <a:r>
              <a:rPr lang="en-US" sz="3600" b="1" dirty="0">
                <a:latin typeface="Cambria" panose="02040503050406030204" pitchFamily="18" charset="0"/>
                <a:ea typeface="Cambria" panose="02040503050406030204" pitchFamily="18" charset="0"/>
              </a:rPr>
              <a:t>MCA II ‘E’</a:t>
            </a:r>
            <a:endParaRPr lang="en-IN" sz="3600" b="1"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662552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D227B-46A8-4DB6-AD4D-254FB8EA72D0}"/>
              </a:ext>
            </a:extLst>
          </p:cNvPr>
          <p:cNvSpPr>
            <a:spLocks noGrp="1"/>
          </p:cNvSpPr>
          <p:nvPr>
            <p:ph type="title"/>
          </p:nvPr>
        </p:nvSpPr>
        <p:spPr>
          <a:xfrm>
            <a:off x="518614" y="1"/>
            <a:ext cx="11091493" cy="586854"/>
          </a:xfrm>
          <a:solidFill>
            <a:schemeClr val="bg1"/>
          </a:solidFill>
          <a:ln>
            <a:solidFill>
              <a:schemeClr val="bg1"/>
            </a:solidFill>
          </a:ln>
        </p:spPr>
        <p:txBody>
          <a:bodyPr anchor="ctr" anchorCtr="0">
            <a:noAutofit/>
          </a:bodyPr>
          <a:lstStyle/>
          <a:p>
            <a:pPr algn="ctr">
              <a:lnSpc>
                <a:spcPct val="150000"/>
              </a:lnSpc>
            </a:pPr>
            <a:r>
              <a:rPr lang="en-US" sz="4000" b="1" dirty="0">
                <a:latin typeface="Times New Roman" panose="02020603050405020304" pitchFamily="18" charset="0"/>
                <a:cs typeface="Times New Roman" panose="02020603050405020304" pitchFamily="18" charset="0"/>
              </a:rPr>
              <a:t>Abstract</a:t>
            </a:r>
          </a:p>
        </p:txBody>
      </p:sp>
      <p:sp>
        <p:nvSpPr>
          <p:cNvPr id="5" name="Content Placeholder 4">
            <a:extLst>
              <a:ext uri="{FF2B5EF4-FFF2-40B4-BE49-F238E27FC236}">
                <a16:creationId xmlns:a16="http://schemas.microsoft.com/office/drawing/2014/main" id="{853940D6-83B6-4DC4-AB1F-B887B00CCAC0}"/>
              </a:ext>
            </a:extLst>
          </p:cNvPr>
          <p:cNvSpPr>
            <a:spLocks noGrp="1"/>
          </p:cNvSpPr>
          <p:nvPr>
            <p:ph idx="1"/>
          </p:nvPr>
        </p:nvSpPr>
        <p:spPr>
          <a:xfrm>
            <a:off x="518615" y="859808"/>
            <a:ext cx="11091492" cy="5527343"/>
          </a:xfrm>
        </p:spPr>
        <p:txBody>
          <a:bodyPr>
            <a:noAutofit/>
          </a:bodyPr>
          <a:lstStyle/>
          <a:p>
            <a:pPr marL="0" indent="0" algn="just">
              <a:lnSpc>
                <a:spcPct val="150000"/>
              </a:lnSpc>
              <a:buNone/>
              <a:tabLst>
                <a:tab pos="4394200" algn="l"/>
              </a:tabLst>
            </a:pPr>
            <a:r>
              <a:rPr lang="en-US" sz="2400" dirty="0">
                <a:latin typeface="Times New Roman" panose="02020603050405020304" pitchFamily="18" charset="0"/>
                <a:cs typeface="Times New Roman" panose="02020603050405020304" pitchFamily="18" charset="0"/>
              </a:rPr>
              <a:t>This project aims to develop an efficient system that reduces errors, saves time, and improves workflow accuracy. It implements key algorithms including a data collection algorithm for gathering and validating input, a processing algorithm for computations and operations, a decision-making algorithm for generating results based on rules, and a reporting algorithm for organizing output. Together, these algorithms ensure a fast, reliable, and user-friendly system.</a:t>
            </a:r>
          </a:p>
        </p:txBody>
      </p:sp>
    </p:spTree>
    <p:extLst>
      <p:ext uri="{BB962C8B-B14F-4D97-AF65-F5344CB8AC3E}">
        <p14:creationId xmlns:p14="http://schemas.microsoft.com/office/powerpoint/2010/main" val="3396516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D227B-46A8-4DB6-AD4D-254FB8EA72D0}"/>
              </a:ext>
            </a:extLst>
          </p:cNvPr>
          <p:cNvSpPr>
            <a:spLocks noGrp="1"/>
          </p:cNvSpPr>
          <p:nvPr>
            <p:ph type="title"/>
          </p:nvPr>
        </p:nvSpPr>
        <p:spPr>
          <a:xfrm>
            <a:off x="518614" y="1"/>
            <a:ext cx="11091493" cy="586854"/>
          </a:xfrm>
          <a:solidFill>
            <a:schemeClr val="bg1"/>
          </a:solidFill>
          <a:ln>
            <a:solidFill>
              <a:schemeClr val="bg1"/>
            </a:solidFill>
          </a:ln>
        </p:spPr>
        <p:txBody>
          <a:bodyPr anchor="ctr" anchorCtr="0">
            <a:noAutofit/>
          </a:bodyPr>
          <a:lstStyle/>
          <a:p>
            <a:pPr algn="ctr">
              <a:lnSpc>
                <a:spcPct val="150000"/>
              </a:lnSpc>
            </a:pPr>
            <a:r>
              <a:rPr lang="en-US" sz="4000" b="1" dirty="0">
                <a:latin typeface="Times New Roman" panose="02020603050405020304" pitchFamily="18" charset="0"/>
                <a:cs typeface="Times New Roman" panose="02020603050405020304" pitchFamily="18" charset="0"/>
              </a:rPr>
              <a:t>Problems Identified</a:t>
            </a:r>
            <a:endParaRPr lang="en-US" sz="40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853940D6-83B6-4DC4-AB1F-B887B00CCAC0}"/>
              </a:ext>
            </a:extLst>
          </p:cNvPr>
          <p:cNvSpPr>
            <a:spLocks noGrp="1"/>
          </p:cNvSpPr>
          <p:nvPr>
            <p:ph idx="1"/>
          </p:nvPr>
        </p:nvSpPr>
        <p:spPr>
          <a:xfrm>
            <a:off x="518615" y="859808"/>
            <a:ext cx="11091492" cy="5527343"/>
          </a:xfrm>
        </p:spPr>
        <p:txBody>
          <a:bodyPr>
            <a:noAutofit/>
          </a:bodyPr>
          <a:lstStyle/>
          <a:p>
            <a:pPr algn="just">
              <a:lnSpc>
                <a:spcPct val="150000"/>
              </a:lnSpc>
              <a:tabLst>
                <a:tab pos="4394200" algn="l"/>
              </a:tabLst>
            </a:pPr>
            <a:r>
              <a:rPr lang="en-US" sz="2400" dirty="0">
                <a:latin typeface="Times New Roman" panose="02020603050405020304" pitchFamily="18" charset="0"/>
                <a:cs typeface="Times New Roman" panose="02020603050405020304" pitchFamily="18" charset="0"/>
              </a:rPr>
              <a:t>Lack of awareness among users about the system/process. </a:t>
            </a:r>
          </a:p>
          <a:p>
            <a:pPr algn="just">
              <a:lnSpc>
                <a:spcPct val="150000"/>
              </a:lnSpc>
            </a:pPr>
            <a:r>
              <a:rPr lang="en-US" sz="2400" dirty="0">
                <a:latin typeface="Times New Roman" panose="02020603050405020304" pitchFamily="18" charset="0"/>
                <a:cs typeface="Times New Roman" panose="02020603050405020304" pitchFamily="18" charset="0"/>
              </a:rPr>
              <a:t>Inefficient workflow leading to delays. </a:t>
            </a:r>
          </a:p>
          <a:p>
            <a:pPr algn="just">
              <a:lnSpc>
                <a:spcPct val="150000"/>
              </a:lnSpc>
            </a:pPr>
            <a:r>
              <a:rPr lang="en-US" sz="2400" dirty="0">
                <a:latin typeface="Times New Roman" panose="02020603050405020304" pitchFamily="18" charset="0"/>
                <a:cs typeface="Times New Roman" panose="02020603050405020304" pitchFamily="18" charset="0"/>
              </a:rPr>
              <a:t>Limited accessibility for certain user groups. </a:t>
            </a:r>
          </a:p>
          <a:p>
            <a:pPr algn="just">
              <a:lnSpc>
                <a:spcPct val="150000"/>
              </a:lnSpc>
            </a:pPr>
            <a:r>
              <a:rPr lang="en-US" sz="2400" dirty="0">
                <a:latin typeface="Times New Roman" panose="02020603050405020304" pitchFamily="18" charset="0"/>
                <a:cs typeface="Times New Roman" panose="02020603050405020304" pitchFamily="18" charset="0"/>
              </a:rPr>
              <a:t>Data inconsistencies and errors in current methods. </a:t>
            </a:r>
          </a:p>
          <a:p>
            <a:pPr algn="just">
              <a:lnSpc>
                <a:spcPct val="150000"/>
              </a:lnSpc>
            </a:pPr>
            <a:r>
              <a:rPr lang="en-US" sz="2400" dirty="0">
                <a:latin typeface="Times New Roman" panose="02020603050405020304" pitchFamily="18" charset="0"/>
                <a:cs typeface="Times New Roman" panose="02020603050405020304" pitchFamily="18" charset="0"/>
              </a:rPr>
              <a:t>High operational costs or resource consumption.</a:t>
            </a:r>
          </a:p>
        </p:txBody>
      </p:sp>
    </p:spTree>
    <p:extLst>
      <p:ext uri="{BB962C8B-B14F-4D97-AF65-F5344CB8AC3E}">
        <p14:creationId xmlns:p14="http://schemas.microsoft.com/office/powerpoint/2010/main" val="1488802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D227B-46A8-4DB6-AD4D-254FB8EA72D0}"/>
              </a:ext>
            </a:extLst>
          </p:cNvPr>
          <p:cNvSpPr>
            <a:spLocks noGrp="1"/>
          </p:cNvSpPr>
          <p:nvPr>
            <p:ph type="title"/>
          </p:nvPr>
        </p:nvSpPr>
        <p:spPr>
          <a:xfrm>
            <a:off x="518614" y="1"/>
            <a:ext cx="11091493" cy="586854"/>
          </a:xfrm>
          <a:solidFill>
            <a:schemeClr val="bg1"/>
          </a:solidFill>
          <a:ln>
            <a:solidFill>
              <a:schemeClr val="bg1"/>
            </a:solidFill>
          </a:ln>
        </p:spPr>
        <p:txBody>
          <a:bodyPr anchor="ctr" anchorCtr="0">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Objective</a:t>
            </a:r>
          </a:p>
        </p:txBody>
      </p:sp>
      <p:sp>
        <p:nvSpPr>
          <p:cNvPr id="5" name="Content Placeholder 4">
            <a:extLst>
              <a:ext uri="{FF2B5EF4-FFF2-40B4-BE49-F238E27FC236}">
                <a16:creationId xmlns:a16="http://schemas.microsoft.com/office/drawing/2014/main" id="{853940D6-83B6-4DC4-AB1F-B887B00CCAC0}"/>
              </a:ext>
            </a:extLst>
          </p:cNvPr>
          <p:cNvSpPr>
            <a:spLocks noGrp="1"/>
          </p:cNvSpPr>
          <p:nvPr>
            <p:ph idx="1"/>
          </p:nvPr>
        </p:nvSpPr>
        <p:spPr>
          <a:xfrm>
            <a:off x="518615" y="859808"/>
            <a:ext cx="11091492" cy="5527343"/>
          </a:xfrm>
        </p:spPr>
        <p:txBody>
          <a:bodyPr>
            <a:noAutofit/>
          </a:bodyPr>
          <a:lstStyle/>
          <a:p>
            <a:pPr algn="just"/>
            <a:r>
              <a:rPr lang="en-US" sz="2400" dirty="0">
                <a:latin typeface="Times New Roman" panose="02020603050405020304" pitchFamily="18" charset="0"/>
                <a:cs typeface="Times New Roman" panose="02020603050405020304" pitchFamily="18" charset="0"/>
              </a:rPr>
              <a:t>To analyze the current system and identify gaps. </a:t>
            </a:r>
          </a:p>
          <a:p>
            <a:pPr algn="just"/>
            <a:r>
              <a:rPr lang="en-US" sz="2400" dirty="0">
                <a:latin typeface="Times New Roman" panose="02020603050405020304" pitchFamily="18" charset="0"/>
                <a:cs typeface="Times New Roman" panose="02020603050405020304" pitchFamily="18" charset="0"/>
              </a:rPr>
              <a:t>To design an efficient and user-friendly solution. </a:t>
            </a:r>
          </a:p>
          <a:p>
            <a:pPr algn="just"/>
            <a:r>
              <a:rPr lang="en-US" sz="2400" dirty="0">
                <a:latin typeface="Times New Roman" panose="02020603050405020304" pitchFamily="18" charset="0"/>
                <a:cs typeface="Times New Roman" panose="02020603050405020304" pitchFamily="18" charset="0"/>
              </a:rPr>
              <a:t>To reduce errors and improve data accuracy. </a:t>
            </a:r>
          </a:p>
          <a:p>
            <a:pPr algn="just"/>
            <a:r>
              <a:rPr lang="en-US" sz="2400" dirty="0">
                <a:latin typeface="Times New Roman" panose="02020603050405020304" pitchFamily="18" charset="0"/>
                <a:cs typeface="Times New Roman" panose="02020603050405020304" pitchFamily="18" charset="0"/>
              </a:rPr>
              <a:t>To enhance accessibility for all users. </a:t>
            </a:r>
          </a:p>
          <a:p>
            <a:pPr algn="just"/>
            <a:r>
              <a:rPr lang="en-US" sz="2400" dirty="0">
                <a:latin typeface="Times New Roman" panose="02020603050405020304" pitchFamily="18" charset="0"/>
                <a:cs typeface="Times New Roman" panose="02020603050405020304" pitchFamily="18" charset="0"/>
              </a:rPr>
              <a:t>To optimize workflow and save time. </a:t>
            </a:r>
          </a:p>
          <a:p>
            <a:pPr algn="just"/>
            <a:r>
              <a:rPr lang="en-US" sz="2400" dirty="0">
                <a:latin typeface="Times New Roman" panose="02020603050405020304" pitchFamily="18" charset="0"/>
                <a:cs typeface="Times New Roman" panose="02020603050405020304" pitchFamily="18" charset="0"/>
              </a:rPr>
              <a:t>To minimize operational costs and resource use. </a:t>
            </a:r>
          </a:p>
          <a:p>
            <a:pPr algn="just"/>
            <a:r>
              <a:rPr lang="en-US" sz="2400" dirty="0">
                <a:latin typeface="Times New Roman" panose="02020603050405020304" pitchFamily="18" charset="0"/>
                <a:cs typeface="Times New Roman" panose="02020603050405020304" pitchFamily="18" charset="0"/>
              </a:rPr>
              <a:t>To evaluate the effectiveness of the implemented solution.</a:t>
            </a:r>
          </a:p>
        </p:txBody>
      </p:sp>
    </p:spTree>
    <p:extLst>
      <p:ext uri="{BB962C8B-B14F-4D97-AF65-F5344CB8AC3E}">
        <p14:creationId xmlns:p14="http://schemas.microsoft.com/office/powerpoint/2010/main" val="2778396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D227B-46A8-4DB6-AD4D-254FB8EA72D0}"/>
              </a:ext>
            </a:extLst>
          </p:cNvPr>
          <p:cNvSpPr>
            <a:spLocks noGrp="1"/>
          </p:cNvSpPr>
          <p:nvPr>
            <p:ph type="title"/>
          </p:nvPr>
        </p:nvSpPr>
        <p:spPr>
          <a:xfrm>
            <a:off x="518614" y="1"/>
            <a:ext cx="11091493" cy="586854"/>
          </a:xfrm>
          <a:solidFill>
            <a:schemeClr val="bg1"/>
          </a:solidFill>
          <a:ln>
            <a:solidFill>
              <a:schemeClr val="bg1"/>
            </a:solidFill>
          </a:ln>
        </p:spPr>
        <p:txBody>
          <a:bodyPr anchor="ctr" anchorCtr="0">
            <a:noAutofit/>
          </a:bodyPr>
          <a:lstStyle/>
          <a:p>
            <a:pPr algn="ctr"/>
            <a:r>
              <a:rPr lang="en-US" sz="4000" b="1" dirty="0">
                <a:solidFill>
                  <a:schemeClr val="tx1"/>
                </a:solidFill>
                <a:latin typeface="Times New Roman" panose="02020603050405020304" pitchFamily="18" charset="0"/>
                <a:cs typeface="Times New Roman" panose="02020603050405020304" pitchFamily="18" charset="0"/>
              </a:rPr>
              <a:t>Existing System</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853940D6-83B6-4DC4-AB1F-B887B00CCAC0}"/>
              </a:ext>
            </a:extLst>
          </p:cNvPr>
          <p:cNvSpPr>
            <a:spLocks noGrp="1"/>
          </p:cNvSpPr>
          <p:nvPr>
            <p:ph idx="1"/>
          </p:nvPr>
        </p:nvSpPr>
        <p:spPr>
          <a:xfrm>
            <a:off x="518615" y="859808"/>
            <a:ext cx="11091492" cy="5527343"/>
          </a:xfrm>
        </p:spPr>
        <p:txBody>
          <a:bodyPr>
            <a:noAutofit/>
          </a:bodyPr>
          <a:lstStyle/>
          <a:p>
            <a:pPr marL="457200" indent="-457200" algn="just">
              <a:lnSpc>
                <a:spcPct val="100000"/>
              </a:lnSpc>
              <a:buAutoNum type="arabicPeriod"/>
            </a:pPr>
            <a:r>
              <a:rPr lang="en-US" sz="2400" b="1" dirty="0">
                <a:latin typeface="Times New Roman" panose="02020603050405020304" pitchFamily="18" charset="0"/>
                <a:cs typeface="Times New Roman" panose="02020603050405020304" pitchFamily="18" charset="0"/>
              </a:rPr>
              <a:t>Manual Process</a:t>
            </a:r>
          </a:p>
          <a:p>
            <a:pPr marL="0" indent="0" algn="just">
              <a:lnSpc>
                <a:spcPct val="100000"/>
              </a:lnSpc>
              <a:buNone/>
            </a:pPr>
            <a:r>
              <a:rPr lang="en-US" sz="2400" dirty="0">
                <a:latin typeface="Times New Roman" panose="02020603050405020304" pitchFamily="18" charset="0"/>
                <a:cs typeface="Times New Roman" panose="02020603050405020304" pitchFamily="18" charset="0"/>
              </a:rPr>
              <a:t>The traditional method relies on manual handling of tasks and data entry. It is simple to implement but prone to errors, time-consuming, and inefficient for large-scale operations.</a:t>
            </a:r>
          </a:p>
          <a:p>
            <a:pPr marL="0" indent="0" algn="just">
              <a:lnSpc>
                <a:spcPct val="100000"/>
              </a:lnSpc>
              <a:buNone/>
            </a:pPr>
            <a:r>
              <a:rPr lang="en-US" sz="2400" b="1" dirty="0">
                <a:latin typeface="Times New Roman" panose="02020603050405020304" pitchFamily="18" charset="0"/>
                <a:cs typeface="Times New Roman" panose="02020603050405020304" pitchFamily="18" charset="0"/>
              </a:rPr>
              <a:t>2. Software-Based Solutions</a:t>
            </a:r>
          </a:p>
          <a:p>
            <a:pPr marL="0" indent="0" algn="just">
              <a:lnSpc>
                <a:spcPct val="100000"/>
              </a:lnSpc>
              <a:buNone/>
            </a:pPr>
            <a:r>
              <a:rPr lang="en-US" sz="2400" dirty="0">
                <a:latin typeface="Times New Roman" panose="02020603050405020304" pitchFamily="18" charset="0"/>
                <a:cs typeface="Times New Roman" panose="02020603050405020304" pitchFamily="18" charset="0"/>
              </a:rPr>
              <a:t>Some organizations use existing software tools to manage tasks. While these improve efficiency and accuracy compared to manual methods, they may lack customization and are sometimes costly.</a:t>
            </a:r>
          </a:p>
          <a:p>
            <a:pPr marL="0" indent="0" algn="just">
              <a:lnSpc>
                <a:spcPct val="100000"/>
              </a:lnSpc>
              <a:buNone/>
            </a:pPr>
            <a:r>
              <a:rPr lang="en-US" sz="2400" b="1" dirty="0">
                <a:latin typeface="Times New Roman" panose="02020603050405020304" pitchFamily="18" charset="0"/>
                <a:cs typeface="Times New Roman" panose="02020603050405020304" pitchFamily="18" charset="0"/>
              </a:rPr>
              <a:t>3. Hybrid Approaches</a:t>
            </a:r>
          </a:p>
          <a:p>
            <a:pPr marL="0" indent="0" algn="just">
              <a:lnSpc>
                <a:spcPct val="100000"/>
              </a:lnSpc>
              <a:buNone/>
            </a:pPr>
            <a:r>
              <a:rPr lang="en-US" sz="2400" dirty="0">
                <a:latin typeface="Times New Roman" panose="02020603050405020304" pitchFamily="18" charset="0"/>
                <a:cs typeface="Times New Roman" panose="02020603050405020304" pitchFamily="18" charset="0"/>
              </a:rPr>
              <a:t>A combination of manual and automated techniques is used to balance cost and efficiency. However, coordination between systems can be challenging, and errors may still occur.</a:t>
            </a:r>
          </a:p>
        </p:txBody>
      </p:sp>
    </p:spTree>
    <p:extLst>
      <p:ext uri="{BB962C8B-B14F-4D97-AF65-F5344CB8AC3E}">
        <p14:creationId xmlns:p14="http://schemas.microsoft.com/office/powerpoint/2010/main" val="1351625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D227B-46A8-4DB6-AD4D-254FB8EA72D0}"/>
              </a:ext>
            </a:extLst>
          </p:cNvPr>
          <p:cNvSpPr>
            <a:spLocks noGrp="1"/>
          </p:cNvSpPr>
          <p:nvPr>
            <p:ph type="title"/>
          </p:nvPr>
        </p:nvSpPr>
        <p:spPr>
          <a:xfrm>
            <a:off x="518614" y="1"/>
            <a:ext cx="11091493" cy="586854"/>
          </a:xfrm>
          <a:solidFill>
            <a:schemeClr val="bg1"/>
          </a:solidFill>
        </p:spPr>
        <p:txBody>
          <a:bodyPr anchor="ctr" anchorCtr="0">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Disadvantages</a:t>
            </a:r>
          </a:p>
        </p:txBody>
      </p:sp>
      <p:sp>
        <p:nvSpPr>
          <p:cNvPr id="5" name="Content Placeholder 4">
            <a:extLst>
              <a:ext uri="{FF2B5EF4-FFF2-40B4-BE49-F238E27FC236}">
                <a16:creationId xmlns:a16="http://schemas.microsoft.com/office/drawing/2014/main" id="{853940D6-83B6-4DC4-AB1F-B887B00CCAC0}"/>
              </a:ext>
            </a:extLst>
          </p:cNvPr>
          <p:cNvSpPr>
            <a:spLocks noGrp="1"/>
          </p:cNvSpPr>
          <p:nvPr>
            <p:ph idx="1"/>
          </p:nvPr>
        </p:nvSpPr>
        <p:spPr>
          <a:xfrm>
            <a:off x="518615" y="859809"/>
            <a:ext cx="11091492" cy="5181554"/>
          </a:xfrm>
        </p:spPr>
        <p:txBody>
          <a:bodyPr>
            <a:noAutofit/>
          </a:bodyPr>
          <a:lstStyle/>
          <a:p>
            <a:pPr algn="just"/>
            <a:r>
              <a:rPr lang="en-US" sz="2400" dirty="0">
                <a:latin typeface="Times New Roman" panose="02020603050405020304" pitchFamily="18" charset="0"/>
                <a:cs typeface="Times New Roman" panose="02020603050405020304" pitchFamily="18" charset="0"/>
              </a:rPr>
              <a:t>Time-consuming and inefficient. </a:t>
            </a:r>
          </a:p>
          <a:p>
            <a:pPr algn="just"/>
            <a:r>
              <a:rPr lang="en-US" sz="2400" dirty="0">
                <a:latin typeface="Times New Roman" panose="02020603050405020304" pitchFamily="18" charset="0"/>
                <a:cs typeface="Times New Roman" panose="02020603050405020304" pitchFamily="18" charset="0"/>
              </a:rPr>
              <a:t>High chances of human error. </a:t>
            </a:r>
          </a:p>
          <a:p>
            <a:pPr algn="just"/>
            <a:r>
              <a:rPr lang="en-US" sz="2400" dirty="0">
                <a:latin typeface="Times New Roman" panose="02020603050405020304" pitchFamily="18" charset="0"/>
                <a:cs typeface="Times New Roman" panose="02020603050405020304" pitchFamily="18" charset="0"/>
              </a:rPr>
              <a:t>Limited accessibility for users. </a:t>
            </a:r>
          </a:p>
          <a:p>
            <a:pPr algn="just"/>
            <a:r>
              <a:rPr lang="en-US" sz="2400" dirty="0">
                <a:latin typeface="Times New Roman" panose="02020603050405020304" pitchFamily="18" charset="0"/>
                <a:cs typeface="Times New Roman" panose="02020603050405020304" pitchFamily="18" charset="0"/>
              </a:rPr>
              <a:t>Expensive to implement and maintain. </a:t>
            </a:r>
          </a:p>
          <a:p>
            <a:pPr algn="just"/>
            <a:r>
              <a:rPr lang="en-US" sz="2400" dirty="0">
                <a:latin typeface="Times New Roman" panose="02020603050405020304" pitchFamily="18" charset="0"/>
                <a:cs typeface="Times New Roman" panose="02020603050405020304" pitchFamily="18" charset="0"/>
              </a:rPr>
              <a:t>Lack of customization for specific needs. </a:t>
            </a:r>
          </a:p>
          <a:p>
            <a:pPr algn="just"/>
            <a:r>
              <a:rPr lang="en-US" sz="2400" dirty="0">
                <a:latin typeface="Times New Roman" panose="02020603050405020304" pitchFamily="18" charset="0"/>
                <a:cs typeface="Times New Roman" panose="02020603050405020304" pitchFamily="18" charset="0"/>
              </a:rPr>
              <a:t>Data inconsistencies and redundancy. </a:t>
            </a:r>
          </a:p>
          <a:p>
            <a:pPr algn="just"/>
            <a:r>
              <a:rPr lang="en-US" sz="2400" dirty="0">
                <a:latin typeface="Times New Roman" panose="02020603050405020304" pitchFamily="18" charset="0"/>
                <a:cs typeface="Times New Roman" panose="02020603050405020304" pitchFamily="18" charset="0"/>
              </a:rPr>
              <a:t>Difficult to scale for large operations.</a:t>
            </a:r>
          </a:p>
        </p:txBody>
      </p:sp>
    </p:spTree>
    <p:extLst>
      <p:ext uri="{BB962C8B-B14F-4D97-AF65-F5344CB8AC3E}">
        <p14:creationId xmlns:p14="http://schemas.microsoft.com/office/powerpoint/2010/main" val="551555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D227B-46A8-4DB6-AD4D-254FB8EA72D0}"/>
              </a:ext>
            </a:extLst>
          </p:cNvPr>
          <p:cNvSpPr>
            <a:spLocks noGrp="1"/>
          </p:cNvSpPr>
          <p:nvPr>
            <p:ph type="title"/>
          </p:nvPr>
        </p:nvSpPr>
        <p:spPr>
          <a:xfrm>
            <a:off x="518614" y="1"/>
            <a:ext cx="11091493" cy="586854"/>
          </a:xfrm>
          <a:solidFill>
            <a:schemeClr val="bg1"/>
          </a:solidFill>
          <a:ln>
            <a:solidFill>
              <a:schemeClr val="bg1"/>
            </a:solidFill>
          </a:ln>
        </p:spPr>
        <p:txBody>
          <a:bodyPr anchor="ctr" anchorCtr="0">
            <a:noAutofit/>
          </a:bodyPr>
          <a:lstStyle/>
          <a:p>
            <a:pPr algn="ctr"/>
            <a:r>
              <a:rPr lang="en-US" sz="4000" b="1" dirty="0">
                <a:solidFill>
                  <a:schemeClr val="tx1"/>
                </a:solidFill>
                <a:latin typeface="Times New Roman" panose="02020603050405020304" pitchFamily="18" charset="0"/>
                <a:cs typeface="Times New Roman" panose="02020603050405020304" pitchFamily="18" charset="0"/>
              </a:rPr>
              <a:t>Proposed System</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853940D6-83B6-4DC4-AB1F-B887B00CCAC0}"/>
              </a:ext>
            </a:extLst>
          </p:cNvPr>
          <p:cNvSpPr>
            <a:spLocks noGrp="1"/>
          </p:cNvSpPr>
          <p:nvPr>
            <p:ph idx="1"/>
          </p:nvPr>
        </p:nvSpPr>
        <p:spPr>
          <a:xfrm>
            <a:off x="518615" y="805218"/>
            <a:ext cx="11091492" cy="5882185"/>
          </a:xfrm>
        </p:spPr>
        <p:txBody>
          <a:bodyPr>
            <a:no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proposed system aims to overcome the limitations of existing methods by providing an efficient, accurate, and user-friendly solution. It focuses on automation, accessibility, and streamlined workflows to improve overall performance.</a:t>
            </a:r>
          </a:p>
          <a:p>
            <a:pPr marL="457200" indent="-457200" algn="just">
              <a:lnSpc>
                <a:spcPct val="150000"/>
              </a:lnSpc>
              <a:buAutoNum type="arabicPeriod"/>
            </a:pPr>
            <a:r>
              <a:rPr lang="en-US" sz="2000" b="1" dirty="0">
                <a:latin typeface="Times New Roman" panose="02020603050405020304" pitchFamily="18" charset="0"/>
                <a:cs typeface="Times New Roman" panose="02020603050405020304" pitchFamily="18" charset="0"/>
              </a:rPr>
              <a:t>Automated Processing</a:t>
            </a:r>
            <a:endParaRPr lang="en-US" sz="20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000" dirty="0">
                <a:latin typeface="Times New Roman" panose="02020603050405020304" pitchFamily="18" charset="0"/>
                <a:cs typeface="Times New Roman" panose="02020603050405020304" pitchFamily="18" charset="0"/>
              </a:rPr>
              <a:t>This component handles tasks that were previously done manually. It reduces errors, saves time, and ensures consistent results. Automation allows users to focus on more critical activities while routine operations are efficiently managed.</a:t>
            </a:r>
          </a:p>
          <a:p>
            <a:pPr marL="0" indent="0" algn="just">
              <a:lnSpc>
                <a:spcPct val="150000"/>
              </a:lnSpc>
              <a:buNone/>
            </a:pPr>
            <a:r>
              <a:rPr lang="en-US" sz="2000" b="1" dirty="0">
                <a:latin typeface="Times New Roman" panose="02020603050405020304" pitchFamily="18" charset="0"/>
                <a:cs typeface="Times New Roman" panose="02020603050405020304" pitchFamily="18" charset="0"/>
              </a:rPr>
              <a:t>2. User-Friendly Interface</a:t>
            </a:r>
            <a:endParaRPr lang="en-US" sz="20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000" dirty="0">
                <a:latin typeface="Times New Roman" panose="02020603050405020304" pitchFamily="18" charset="0"/>
                <a:cs typeface="Times New Roman" panose="02020603050405020304" pitchFamily="18" charset="0"/>
              </a:rPr>
              <a:t>A simple and intuitive interface makes the system accessible to all users, regardless of technical expertise. It enables easy data entry, retrieval, and reporting, enhancing overall usability and reducing the need for extensive training.</a:t>
            </a:r>
          </a:p>
        </p:txBody>
      </p:sp>
    </p:spTree>
    <p:extLst>
      <p:ext uri="{BB962C8B-B14F-4D97-AF65-F5344CB8AC3E}">
        <p14:creationId xmlns:p14="http://schemas.microsoft.com/office/powerpoint/2010/main" val="1914637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D227B-46A8-4DB6-AD4D-254FB8EA72D0}"/>
              </a:ext>
            </a:extLst>
          </p:cNvPr>
          <p:cNvSpPr>
            <a:spLocks noGrp="1"/>
          </p:cNvSpPr>
          <p:nvPr>
            <p:ph type="title"/>
          </p:nvPr>
        </p:nvSpPr>
        <p:spPr>
          <a:xfrm>
            <a:off x="518614" y="1"/>
            <a:ext cx="11091493" cy="586854"/>
          </a:xfrm>
          <a:solidFill>
            <a:schemeClr val="bg1"/>
          </a:solidFill>
          <a:ln>
            <a:solidFill>
              <a:schemeClr val="bg1"/>
            </a:solidFill>
          </a:ln>
        </p:spPr>
        <p:txBody>
          <a:bodyPr anchor="ctr" anchorCtr="0">
            <a:noAutofit/>
          </a:bodyPr>
          <a:lstStyle/>
          <a:p>
            <a:pPr algn="ctr">
              <a:lnSpc>
                <a:spcPct val="150000"/>
              </a:lnSpc>
              <a:buClrTx/>
            </a:pPr>
            <a:r>
              <a:rPr lang="en-US" sz="4000" b="1" dirty="0">
                <a:solidFill>
                  <a:schemeClr val="tx1"/>
                </a:solidFill>
                <a:latin typeface="Times New Roman" panose="02020603050405020304" pitchFamily="18" charset="0"/>
                <a:cs typeface="Times New Roman" panose="02020603050405020304" pitchFamily="18" charset="0"/>
              </a:rPr>
              <a:t>Advantages</a:t>
            </a:r>
          </a:p>
        </p:txBody>
      </p:sp>
      <p:sp>
        <p:nvSpPr>
          <p:cNvPr id="5" name="Content Placeholder 4">
            <a:extLst>
              <a:ext uri="{FF2B5EF4-FFF2-40B4-BE49-F238E27FC236}">
                <a16:creationId xmlns:a16="http://schemas.microsoft.com/office/drawing/2014/main" id="{853940D6-83B6-4DC4-AB1F-B887B00CCAC0}"/>
              </a:ext>
            </a:extLst>
          </p:cNvPr>
          <p:cNvSpPr>
            <a:spLocks noGrp="1"/>
          </p:cNvSpPr>
          <p:nvPr>
            <p:ph idx="1"/>
          </p:nvPr>
        </p:nvSpPr>
        <p:spPr>
          <a:xfrm>
            <a:off x="518614" y="975816"/>
            <a:ext cx="11313561" cy="5059224"/>
          </a:xfrm>
        </p:spPr>
        <p:txBody>
          <a:bodyPr>
            <a:noAutofit/>
          </a:bodyPr>
          <a:lstStyle/>
          <a:p>
            <a:pPr algn="just"/>
            <a:r>
              <a:rPr lang="en-US" sz="2400" dirty="0">
                <a:latin typeface="Times New Roman" panose="02020603050405020304" pitchFamily="18" charset="0"/>
                <a:ea typeface="Cambria" panose="02040503050406030204" pitchFamily="18" charset="0"/>
                <a:cs typeface="Times New Roman" panose="02020603050405020304" pitchFamily="18" charset="0"/>
              </a:rPr>
              <a:t>Saves time and increases efficiency.</a:t>
            </a:r>
          </a:p>
          <a:p>
            <a:pPr algn="just"/>
            <a:r>
              <a:rPr lang="en-US" sz="2400" dirty="0">
                <a:latin typeface="Times New Roman" panose="02020603050405020304" pitchFamily="18" charset="0"/>
                <a:ea typeface="Cambria" panose="02040503050406030204" pitchFamily="18" charset="0"/>
                <a:cs typeface="Times New Roman" panose="02020603050405020304" pitchFamily="18" charset="0"/>
              </a:rPr>
              <a:t>Reduces errors and improves accuracy.</a:t>
            </a:r>
          </a:p>
          <a:p>
            <a:pPr algn="just"/>
            <a:r>
              <a:rPr lang="en-US" sz="2400" dirty="0">
                <a:latin typeface="Times New Roman" panose="02020603050405020304" pitchFamily="18" charset="0"/>
                <a:ea typeface="Cambria" panose="02040503050406030204" pitchFamily="18" charset="0"/>
                <a:cs typeface="Times New Roman" panose="02020603050405020304" pitchFamily="18" charset="0"/>
              </a:rPr>
              <a:t>Easy to use for all types of users.</a:t>
            </a:r>
          </a:p>
          <a:p>
            <a:pPr algn="just"/>
            <a:r>
              <a:rPr lang="en-US" sz="2400" dirty="0">
                <a:latin typeface="Times New Roman" panose="02020603050405020304" pitchFamily="18" charset="0"/>
                <a:ea typeface="Cambria" panose="02040503050406030204" pitchFamily="18" charset="0"/>
                <a:cs typeface="Times New Roman" panose="02020603050405020304" pitchFamily="18" charset="0"/>
              </a:rPr>
              <a:t>Cost-effective compared to traditional methods.</a:t>
            </a:r>
          </a:p>
          <a:p>
            <a:pPr algn="just"/>
            <a:r>
              <a:rPr lang="en-US" sz="2400" dirty="0">
                <a:latin typeface="Times New Roman" panose="02020603050405020304" pitchFamily="18" charset="0"/>
                <a:ea typeface="Cambria" panose="02040503050406030204" pitchFamily="18" charset="0"/>
                <a:cs typeface="Times New Roman" panose="02020603050405020304" pitchFamily="18" charset="0"/>
              </a:rPr>
              <a:t>Helps in better decision-making with reliable data.</a:t>
            </a:r>
          </a:p>
          <a:p>
            <a:pPr algn="just"/>
            <a:r>
              <a:rPr lang="en-US" sz="2400" dirty="0">
                <a:latin typeface="Times New Roman" panose="02020603050405020304" pitchFamily="18" charset="0"/>
                <a:ea typeface="Cambria" panose="02040503050406030204" pitchFamily="18" charset="0"/>
                <a:cs typeface="Times New Roman" panose="02020603050405020304" pitchFamily="18" charset="0"/>
              </a:rPr>
              <a:t>Improves productivity and workflow.</a:t>
            </a:r>
          </a:p>
          <a:p>
            <a:pPr algn="just"/>
            <a:r>
              <a:rPr lang="en-US" sz="2400" dirty="0">
                <a:latin typeface="Times New Roman" panose="02020603050405020304" pitchFamily="18" charset="0"/>
                <a:ea typeface="Cambria" panose="02040503050406030204" pitchFamily="18" charset="0"/>
                <a:cs typeface="Times New Roman" panose="02020603050405020304" pitchFamily="18" charset="0"/>
              </a:rPr>
              <a:t>Ensures consistency and reliability of results.</a:t>
            </a:r>
          </a:p>
          <a:p>
            <a:pPr algn="just"/>
            <a:r>
              <a:rPr lang="en-US" sz="2400" dirty="0">
                <a:latin typeface="Times New Roman" panose="02020603050405020304" pitchFamily="18" charset="0"/>
                <a:ea typeface="Cambria" panose="02040503050406030204" pitchFamily="18" charset="0"/>
                <a:cs typeface="Times New Roman" panose="02020603050405020304" pitchFamily="18" charset="0"/>
              </a:rPr>
              <a:t>Accessible anytime, enhancing convenience and flexibility.</a:t>
            </a:r>
          </a:p>
        </p:txBody>
      </p:sp>
    </p:spTree>
    <p:extLst>
      <p:ext uri="{BB962C8B-B14F-4D97-AF65-F5344CB8AC3E}">
        <p14:creationId xmlns:p14="http://schemas.microsoft.com/office/powerpoint/2010/main" val="1884451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D227B-46A8-4DB6-AD4D-254FB8EA72D0}"/>
              </a:ext>
            </a:extLst>
          </p:cNvPr>
          <p:cNvSpPr>
            <a:spLocks noGrp="1"/>
          </p:cNvSpPr>
          <p:nvPr>
            <p:ph type="title"/>
          </p:nvPr>
        </p:nvSpPr>
        <p:spPr>
          <a:xfrm>
            <a:off x="518614" y="1"/>
            <a:ext cx="11091493" cy="586854"/>
          </a:xfrm>
          <a:solidFill>
            <a:schemeClr val="bg1"/>
          </a:solidFill>
          <a:ln>
            <a:solidFill>
              <a:schemeClr val="bg1"/>
            </a:solidFill>
          </a:ln>
        </p:spPr>
        <p:txBody>
          <a:bodyPr anchor="ctr" anchorCtr="0">
            <a:noAutofit/>
          </a:bodyPr>
          <a:lstStyle/>
          <a:p>
            <a:pPr algn="ctr">
              <a:lnSpc>
                <a:spcPct val="150000"/>
              </a:lnSpc>
              <a:buClrTx/>
            </a:pPr>
            <a:r>
              <a:rPr lang="en-US" sz="4000" b="1" dirty="0">
                <a:solidFill>
                  <a:schemeClr val="tx1"/>
                </a:solidFill>
                <a:latin typeface="Times New Roman" panose="02020603050405020304" pitchFamily="18" charset="0"/>
                <a:cs typeface="Times New Roman" panose="02020603050405020304" pitchFamily="18" charset="0"/>
              </a:rPr>
              <a:t>System Architecture</a:t>
            </a:r>
          </a:p>
        </p:txBody>
      </p:sp>
      <p:grpSp>
        <p:nvGrpSpPr>
          <p:cNvPr id="5" name="Canvas 1264436747"/>
          <p:cNvGrpSpPr/>
          <p:nvPr/>
        </p:nvGrpSpPr>
        <p:grpSpPr>
          <a:xfrm>
            <a:off x="2369128" y="1228298"/>
            <a:ext cx="6761224" cy="5500048"/>
            <a:chOff x="104775" y="179025"/>
            <a:chExt cx="6581140" cy="9235485"/>
          </a:xfrm>
        </p:grpSpPr>
        <p:sp>
          <p:nvSpPr>
            <p:cNvPr id="7" name="Rectangle 6"/>
            <p:cNvSpPr/>
            <p:nvPr/>
          </p:nvSpPr>
          <p:spPr>
            <a:xfrm>
              <a:off x="1095375" y="1965960"/>
              <a:ext cx="5590540" cy="7448550"/>
            </a:xfrm>
            <a:prstGeom prst="rect">
              <a:avLst/>
            </a:prstGeom>
          </p:spPr>
        </p:sp>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t="15178" b="16071"/>
            <a:stretch/>
          </p:blipFill>
          <p:spPr>
            <a:xfrm>
              <a:off x="2201828" y="2286001"/>
              <a:ext cx="1602856" cy="942974"/>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0987" y="333375"/>
              <a:ext cx="913426" cy="1066800"/>
            </a:xfrm>
            <a:prstGeom prst="rect">
              <a:avLst/>
            </a:prstGeom>
          </p:spPr>
        </p:pic>
        <p:cxnSp>
          <p:nvCxnSpPr>
            <p:cNvPr id="10" name="Elbow Connector 9"/>
            <p:cNvCxnSpPr/>
            <p:nvPr/>
          </p:nvCxnSpPr>
          <p:spPr>
            <a:xfrm rot="16200000" flipH="1">
              <a:off x="849165" y="131910"/>
              <a:ext cx="1952626" cy="2355556"/>
            </a:xfrm>
            <a:prstGeom prst="bentConnector3">
              <a:avLst>
                <a:gd name="adj1" fmla="val -11707"/>
              </a:avLst>
            </a:prstGeom>
            <a:noFill/>
            <a:ln w="6350" cap="flat" cmpd="sng" algn="ctr">
              <a:solidFill>
                <a:srgbClr val="5B9BD5"/>
              </a:solidFill>
              <a:prstDash val="solid"/>
              <a:miter lim="800000"/>
              <a:headEnd type="triangle"/>
              <a:tailEnd type="triangle"/>
            </a:ln>
            <a:effectLst/>
          </p:spPr>
        </p:cxnSp>
        <p:pic>
          <p:nvPicPr>
            <p:cNvPr id="11" name="Picture 10"/>
            <p:cNvPicPr>
              <a:picLocks noChangeAspect="1"/>
            </p:cNvPicPr>
            <p:nvPr/>
          </p:nvPicPr>
          <p:blipFill rotWithShape="1">
            <a:blip r:embed="rId4" cstate="print">
              <a:extLst>
                <a:ext uri="{28A0092B-C50C-407E-A947-70E740481C1C}">
                  <a14:useLocalDpi xmlns:a14="http://schemas.microsoft.com/office/drawing/2010/main" val="0"/>
                </a:ext>
              </a:extLst>
            </a:blip>
            <a:srcRect l="15104" t="14583" r="10416" b="18229"/>
            <a:stretch/>
          </p:blipFill>
          <p:spPr>
            <a:xfrm>
              <a:off x="4038600" y="5143500"/>
              <a:ext cx="1362076" cy="1228725"/>
            </a:xfrm>
            <a:prstGeom prst="rect">
              <a:avLst/>
            </a:prstGeom>
          </p:spPr>
        </p:pic>
        <p:cxnSp>
          <p:nvCxnSpPr>
            <p:cNvPr id="12" name="Elbow Connector 11"/>
            <p:cNvCxnSpPr/>
            <p:nvPr/>
          </p:nvCxnSpPr>
          <p:spPr>
            <a:xfrm>
              <a:off x="3804684" y="2757488"/>
              <a:ext cx="914954" cy="2386012"/>
            </a:xfrm>
            <a:prstGeom prst="bentConnector2">
              <a:avLst/>
            </a:prstGeom>
            <a:noFill/>
            <a:ln w="6350" cap="flat" cmpd="sng" algn="ctr">
              <a:solidFill>
                <a:srgbClr val="5B9BD5"/>
              </a:solidFill>
              <a:prstDash val="solid"/>
              <a:miter lim="800000"/>
              <a:headEnd type="triangle"/>
              <a:tailEnd type="triangle"/>
            </a:ln>
            <a:effectLst/>
          </p:spPr>
        </p:cxnSp>
        <p:pic>
          <p:nvPicPr>
            <p:cNvPr id="13" name="Picture 12"/>
            <p:cNvPicPr>
              <a:picLocks noChangeAspect="1"/>
            </p:cNvPicPr>
            <p:nvPr/>
          </p:nvPicPr>
          <p:blipFill rotWithShape="1">
            <a:blip r:embed="rId5" cstate="print">
              <a:extLst>
                <a:ext uri="{28A0092B-C50C-407E-A947-70E740481C1C}">
                  <a14:useLocalDpi xmlns:a14="http://schemas.microsoft.com/office/drawing/2010/main" val="0"/>
                </a:ext>
              </a:extLst>
            </a:blip>
            <a:srcRect l="19270" t="9167" r="18750" b="2499"/>
            <a:stretch/>
          </p:blipFill>
          <p:spPr>
            <a:xfrm>
              <a:off x="200512" y="5172075"/>
              <a:ext cx="1133476" cy="1009650"/>
            </a:xfrm>
            <a:prstGeom prst="rect">
              <a:avLst/>
            </a:prstGeom>
          </p:spPr>
        </p:pic>
        <p:pic>
          <p:nvPicPr>
            <p:cNvPr id="14" name="Picture 13"/>
            <p:cNvPicPr/>
            <p:nvPr/>
          </p:nvPicPr>
          <p:blipFill rotWithShape="1">
            <a:blip r:embed="rId5" cstate="print">
              <a:extLst>
                <a:ext uri="{28A0092B-C50C-407E-A947-70E740481C1C}">
                  <a14:useLocalDpi xmlns:a14="http://schemas.microsoft.com/office/drawing/2010/main" val="0"/>
                </a:ext>
              </a:extLst>
            </a:blip>
            <a:srcRect l="19270" t="9167" r="18750" b="2499"/>
            <a:stretch/>
          </p:blipFill>
          <p:spPr>
            <a:xfrm>
              <a:off x="1427775" y="5172075"/>
              <a:ext cx="1133475" cy="1009650"/>
            </a:xfrm>
            <a:prstGeom prst="rect">
              <a:avLst/>
            </a:prstGeom>
          </p:spPr>
        </p:pic>
        <p:pic>
          <p:nvPicPr>
            <p:cNvPr id="15" name="Picture 14"/>
            <p:cNvPicPr/>
            <p:nvPr/>
          </p:nvPicPr>
          <p:blipFill rotWithShape="1">
            <a:blip r:embed="rId5" cstate="print">
              <a:extLst>
                <a:ext uri="{28A0092B-C50C-407E-A947-70E740481C1C}">
                  <a14:useLocalDpi xmlns:a14="http://schemas.microsoft.com/office/drawing/2010/main" val="0"/>
                </a:ext>
              </a:extLst>
            </a:blip>
            <a:srcRect l="19270" t="9167" r="18750" b="2499"/>
            <a:stretch/>
          </p:blipFill>
          <p:spPr>
            <a:xfrm>
              <a:off x="780563" y="6142650"/>
              <a:ext cx="1133475" cy="1009650"/>
            </a:xfrm>
            <a:prstGeom prst="rect">
              <a:avLst/>
            </a:prstGeom>
          </p:spPr>
        </p:pic>
        <p:sp>
          <p:nvSpPr>
            <p:cNvPr id="16" name="Rectangle 15"/>
            <p:cNvSpPr/>
            <p:nvPr/>
          </p:nvSpPr>
          <p:spPr>
            <a:xfrm>
              <a:off x="104775" y="4905375"/>
              <a:ext cx="2688931" cy="2371725"/>
            </a:xfrm>
            <a:prstGeom prst="rect">
              <a:avLst/>
            </a:prstGeom>
            <a:no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solidFill>
                    <a:srgbClr val="000000"/>
                  </a:solidFill>
                  <a:effectLst/>
                  <a:latin typeface="Calibri" panose="020F0502020204030204" pitchFamily="34" charset="0"/>
                  <a:ea typeface="Calibri" panose="020F0502020204030204" pitchFamily="34" charset="0"/>
                  <a:cs typeface="Latha"/>
                </a:rPr>
                <a:t>Student</a:t>
              </a:r>
              <a:endParaRPr lang="en-US" sz="1100">
                <a:effectLst/>
                <a:latin typeface="Calibri" panose="020F0502020204030204" pitchFamily="34" charset="0"/>
                <a:ea typeface="Calibri" panose="020F0502020204030204" pitchFamily="34" charset="0"/>
                <a:cs typeface="Latha"/>
              </a:endParaRPr>
            </a:p>
          </p:txBody>
        </p:sp>
        <p:cxnSp>
          <p:nvCxnSpPr>
            <p:cNvPr id="17" name="Elbow Connector 16"/>
            <p:cNvCxnSpPr/>
            <p:nvPr/>
          </p:nvCxnSpPr>
          <p:spPr>
            <a:xfrm rot="5400000" flipH="1" flipV="1">
              <a:off x="751591" y="3455139"/>
              <a:ext cx="2147887" cy="752587"/>
            </a:xfrm>
            <a:prstGeom prst="bentConnector2">
              <a:avLst/>
            </a:prstGeom>
            <a:noFill/>
            <a:ln w="6350" cap="flat" cmpd="sng" algn="ctr">
              <a:solidFill>
                <a:srgbClr val="5B9BD5"/>
              </a:solidFill>
              <a:prstDash val="solid"/>
              <a:miter lim="800000"/>
              <a:headEnd type="triangle"/>
              <a:tailEnd type="triangle"/>
            </a:ln>
            <a:effectLst/>
          </p:spPr>
        </p:cxnSp>
        <p:sp>
          <p:nvSpPr>
            <p:cNvPr id="18" name="Rectangle 17"/>
            <p:cNvSpPr/>
            <p:nvPr/>
          </p:nvSpPr>
          <p:spPr>
            <a:xfrm>
              <a:off x="647699" y="4476750"/>
              <a:ext cx="1610701" cy="27622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a:solidFill>
                    <a:srgbClr val="000000"/>
                  </a:solidFill>
                  <a:effectLst/>
                  <a:latin typeface="Calibri" panose="020F0502020204030204" pitchFamily="34" charset="0"/>
                  <a:ea typeface="Calibri" panose="020F0502020204030204" pitchFamily="34" charset="0"/>
                  <a:cs typeface="Latha"/>
                </a:rPr>
                <a:t>Login</a:t>
              </a:r>
              <a:endParaRPr lang="en-US" sz="1100">
                <a:effectLst/>
                <a:latin typeface="Calibri" panose="020F0502020204030204" pitchFamily="34" charset="0"/>
                <a:ea typeface="Calibri" panose="020F0502020204030204" pitchFamily="34" charset="0"/>
                <a:cs typeface="Latha"/>
              </a:endParaRPr>
            </a:p>
          </p:txBody>
        </p:sp>
        <p:sp>
          <p:nvSpPr>
            <p:cNvPr id="19" name="Rectangle 18"/>
            <p:cNvSpPr/>
            <p:nvPr/>
          </p:nvSpPr>
          <p:spPr>
            <a:xfrm>
              <a:off x="656249" y="4142400"/>
              <a:ext cx="1610701" cy="28672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6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Face Identification</a:t>
              </a:r>
              <a:endParaRPr lang="en-US" sz="1200">
                <a:effectLst/>
                <a:latin typeface="Times New Roman" panose="02020603050405020304" pitchFamily="18" charset="0"/>
                <a:ea typeface="Calibri" panose="020F0502020204030204" pitchFamily="34" charset="0"/>
              </a:endParaRPr>
            </a:p>
          </p:txBody>
        </p:sp>
        <p:sp>
          <p:nvSpPr>
            <p:cNvPr id="20" name="Rectangle 19"/>
            <p:cNvSpPr/>
            <p:nvPr/>
          </p:nvSpPr>
          <p:spPr>
            <a:xfrm>
              <a:off x="657224" y="3818550"/>
              <a:ext cx="1610701" cy="26767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5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Attend Online Exam</a:t>
              </a:r>
              <a:endParaRPr lang="en-US" sz="1200">
                <a:effectLst/>
                <a:latin typeface="Times New Roman" panose="02020603050405020304" pitchFamily="18" charset="0"/>
                <a:ea typeface="Calibri" panose="020F0502020204030204" pitchFamily="34" charset="0"/>
              </a:endParaRPr>
            </a:p>
          </p:txBody>
        </p:sp>
        <p:sp>
          <p:nvSpPr>
            <p:cNvPr id="21" name="Rectangle 20"/>
            <p:cNvSpPr/>
            <p:nvPr/>
          </p:nvSpPr>
          <p:spPr>
            <a:xfrm>
              <a:off x="656249" y="3504225"/>
              <a:ext cx="1610701" cy="26733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5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Cheating Activity</a:t>
              </a:r>
              <a:endParaRPr lang="en-US" sz="1200">
                <a:effectLst/>
                <a:latin typeface="Times New Roman" panose="02020603050405020304" pitchFamily="18" charset="0"/>
                <a:ea typeface="Calibri" panose="020F0502020204030204" pitchFamily="34" charset="0"/>
              </a:endParaRPr>
            </a:p>
          </p:txBody>
        </p:sp>
        <p:sp>
          <p:nvSpPr>
            <p:cNvPr id="22" name="Rectangle 21"/>
            <p:cNvSpPr/>
            <p:nvPr/>
          </p:nvSpPr>
          <p:spPr>
            <a:xfrm>
              <a:off x="656249" y="3170850"/>
              <a:ext cx="1610701" cy="26733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5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Warning or Alert Msg</a:t>
              </a:r>
              <a:endParaRPr lang="en-US" sz="1200">
                <a:effectLst/>
                <a:latin typeface="Times New Roman" panose="02020603050405020304" pitchFamily="18" charset="0"/>
                <a:ea typeface="Calibri" panose="020F0502020204030204" pitchFamily="34" charset="0"/>
              </a:endParaRPr>
            </a:p>
          </p:txBody>
        </p:sp>
        <p:sp>
          <p:nvSpPr>
            <p:cNvPr id="23" name="Rectangle 22"/>
            <p:cNvSpPr/>
            <p:nvPr/>
          </p:nvSpPr>
          <p:spPr>
            <a:xfrm>
              <a:off x="2199300" y="1485220"/>
              <a:ext cx="1610360" cy="27622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6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Reports</a:t>
              </a:r>
              <a:endParaRPr lang="en-US" sz="1200">
                <a:effectLst/>
                <a:latin typeface="Times New Roman" panose="02020603050405020304" pitchFamily="18" charset="0"/>
                <a:ea typeface="Calibri" panose="020F0502020204030204" pitchFamily="34" charset="0"/>
              </a:endParaRPr>
            </a:p>
          </p:txBody>
        </p:sp>
        <p:sp>
          <p:nvSpPr>
            <p:cNvPr id="24" name="Rectangle 23"/>
            <p:cNvSpPr/>
            <p:nvPr/>
          </p:nvSpPr>
          <p:spPr>
            <a:xfrm>
              <a:off x="2208190" y="1150575"/>
              <a:ext cx="1610360" cy="28638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5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Start and Stop Time</a:t>
              </a:r>
              <a:endParaRPr lang="en-US" sz="1200">
                <a:effectLst/>
                <a:latin typeface="Times New Roman" panose="02020603050405020304" pitchFamily="18" charset="0"/>
                <a:ea typeface="Calibri" panose="020F0502020204030204" pitchFamily="34" charset="0"/>
              </a:endParaRPr>
            </a:p>
          </p:txBody>
        </p:sp>
        <p:sp>
          <p:nvSpPr>
            <p:cNvPr id="25" name="Rectangle 24"/>
            <p:cNvSpPr/>
            <p:nvPr/>
          </p:nvSpPr>
          <p:spPr>
            <a:xfrm>
              <a:off x="2208825" y="826725"/>
              <a:ext cx="1610360" cy="26733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5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Add Question</a:t>
              </a:r>
              <a:endParaRPr lang="en-US" sz="1200">
                <a:effectLst/>
                <a:latin typeface="Times New Roman" panose="02020603050405020304" pitchFamily="18" charset="0"/>
                <a:ea typeface="Calibri" panose="020F0502020204030204" pitchFamily="34" charset="0"/>
              </a:endParaRPr>
            </a:p>
          </p:txBody>
        </p:sp>
        <p:sp>
          <p:nvSpPr>
            <p:cNvPr id="26" name="Rectangle 25"/>
            <p:cNvSpPr/>
            <p:nvPr/>
          </p:nvSpPr>
          <p:spPr>
            <a:xfrm>
              <a:off x="2208190" y="512400"/>
              <a:ext cx="1610360" cy="26733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5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Add Staff &amp; Student</a:t>
              </a:r>
              <a:endParaRPr lang="en-US" sz="1200">
                <a:effectLst/>
                <a:latin typeface="Times New Roman" panose="02020603050405020304" pitchFamily="18" charset="0"/>
                <a:ea typeface="Calibri" panose="020F0502020204030204" pitchFamily="34" charset="0"/>
              </a:endParaRPr>
            </a:p>
          </p:txBody>
        </p:sp>
        <p:sp>
          <p:nvSpPr>
            <p:cNvPr id="27" name="Rectangle 26"/>
            <p:cNvSpPr/>
            <p:nvPr/>
          </p:nvSpPr>
          <p:spPr>
            <a:xfrm>
              <a:off x="2208190" y="179025"/>
              <a:ext cx="1610360" cy="26733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5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Login</a:t>
              </a:r>
              <a:endParaRPr lang="en-US" sz="1200">
                <a:effectLst/>
                <a:latin typeface="Times New Roman" panose="02020603050405020304" pitchFamily="18" charset="0"/>
                <a:ea typeface="Calibri" panose="020F0502020204030204" pitchFamily="34" charset="0"/>
              </a:endParaRPr>
            </a:p>
          </p:txBody>
        </p:sp>
        <p:sp>
          <p:nvSpPr>
            <p:cNvPr id="28" name="Rectangle 27"/>
            <p:cNvSpPr/>
            <p:nvPr/>
          </p:nvSpPr>
          <p:spPr>
            <a:xfrm>
              <a:off x="3913800" y="4457995"/>
              <a:ext cx="1610360" cy="27622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5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Reports</a:t>
              </a:r>
              <a:endParaRPr lang="en-US" sz="1200">
                <a:effectLst/>
                <a:latin typeface="Times New Roman" panose="02020603050405020304" pitchFamily="18" charset="0"/>
                <a:ea typeface="Calibri" panose="020F0502020204030204" pitchFamily="34" charset="0"/>
              </a:endParaRPr>
            </a:p>
          </p:txBody>
        </p:sp>
        <p:sp>
          <p:nvSpPr>
            <p:cNvPr id="29" name="Rectangle 28"/>
            <p:cNvSpPr/>
            <p:nvPr/>
          </p:nvSpPr>
          <p:spPr>
            <a:xfrm>
              <a:off x="3903640" y="4123350"/>
              <a:ext cx="1610360" cy="28638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5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Block Student</a:t>
              </a:r>
              <a:endParaRPr lang="en-US" sz="1200">
                <a:effectLst/>
                <a:latin typeface="Times New Roman" panose="02020603050405020304" pitchFamily="18" charset="0"/>
                <a:ea typeface="Calibri" panose="020F0502020204030204" pitchFamily="34" charset="0"/>
              </a:endParaRPr>
            </a:p>
          </p:txBody>
        </p:sp>
        <p:sp>
          <p:nvSpPr>
            <p:cNvPr id="30" name="Rectangle 29"/>
            <p:cNvSpPr/>
            <p:nvPr/>
          </p:nvSpPr>
          <p:spPr>
            <a:xfrm>
              <a:off x="3913800" y="3799500"/>
              <a:ext cx="1610360" cy="26733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5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Warn Student</a:t>
              </a:r>
              <a:endParaRPr lang="en-US" sz="1200">
                <a:effectLst/>
                <a:latin typeface="Times New Roman" panose="02020603050405020304" pitchFamily="18" charset="0"/>
                <a:ea typeface="Calibri" panose="020F0502020204030204" pitchFamily="34" charset="0"/>
              </a:endParaRPr>
            </a:p>
          </p:txBody>
        </p:sp>
        <p:sp>
          <p:nvSpPr>
            <p:cNvPr id="31" name="Rectangle 30"/>
            <p:cNvSpPr/>
            <p:nvPr/>
          </p:nvSpPr>
          <p:spPr>
            <a:xfrm>
              <a:off x="3903640" y="3485175"/>
              <a:ext cx="1610360" cy="26733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5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Monitoring Student </a:t>
              </a:r>
              <a:endParaRPr lang="en-US" sz="1200">
                <a:effectLst/>
                <a:latin typeface="Times New Roman" panose="02020603050405020304" pitchFamily="18" charset="0"/>
                <a:ea typeface="Calibri" panose="020F0502020204030204" pitchFamily="34" charset="0"/>
              </a:endParaRPr>
            </a:p>
          </p:txBody>
        </p:sp>
        <p:sp>
          <p:nvSpPr>
            <p:cNvPr id="32" name="Rectangle 31"/>
            <p:cNvSpPr/>
            <p:nvPr/>
          </p:nvSpPr>
          <p:spPr>
            <a:xfrm>
              <a:off x="3903640" y="3151800"/>
              <a:ext cx="1610360" cy="267335"/>
            </a:xfrm>
            <a:prstGeom prst="rect">
              <a:avLst/>
            </a:prstGeom>
            <a:solidFill>
              <a:sysClr val="window" lastClr="FFFFFF"/>
            </a:solidFill>
            <a:ln w="12700" cap="flat" cmpd="sng" algn="ctr">
              <a:solidFill>
                <a:srgbClr val="00B0F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5000"/>
                </a:lnSpc>
                <a:spcBef>
                  <a:spcPts val="0"/>
                </a:spcBef>
                <a:spcAft>
                  <a:spcPts val="800"/>
                </a:spcAft>
              </a:pPr>
              <a:r>
                <a:rPr lang="en-US" sz="1200">
                  <a:solidFill>
                    <a:srgbClr val="000000"/>
                  </a:solidFill>
                  <a:effectLst/>
                  <a:latin typeface="Times New Roman" panose="02020603050405020304" pitchFamily="18" charset="0"/>
                  <a:ea typeface="Calibri" panose="020F0502020204030204" pitchFamily="34" charset="0"/>
                </a:rPr>
                <a:t>Login</a:t>
              </a:r>
              <a:endParaRPr lang="en-US" sz="1200">
                <a:effectLst/>
                <a:latin typeface="Times New Roman" panose="02020603050405020304" pitchFamily="18" charset="0"/>
                <a:ea typeface="Calibri" panose="020F0502020204030204" pitchFamily="34" charset="0"/>
              </a:endParaRPr>
            </a:p>
          </p:txBody>
        </p:sp>
        <p:sp>
          <p:nvSpPr>
            <p:cNvPr id="33" name="Text Box 1264436744"/>
            <p:cNvSpPr txBox="1"/>
            <p:nvPr/>
          </p:nvSpPr>
          <p:spPr>
            <a:xfrm>
              <a:off x="190987" y="1362075"/>
              <a:ext cx="1476375" cy="28575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Latha"/>
                </a:rPr>
                <a:t>College Admin</a:t>
              </a:r>
            </a:p>
          </p:txBody>
        </p:sp>
        <p:sp>
          <p:nvSpPr>
            <p:cNvPr id="34" name="Text Box 49"/>
            <p:cNvSpPr txBox="1"/>
            <p:nvPr/>
          </p:nvSpPr>
          <p:spPr>
            <a:xfrm>
              <a:off x="4047785" y="6400800"/>
              <a:ext cx="1476375" cy="28575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6000"/>
                </a:lnSpc>
                <a:spcBef>
                  <a:spcPts val="0"/>
                </a:spcBef>
                <a:spcAft>
                  <a:spcPts val="800"/>
                </a:spcAft>
              </a:pPr>
              <a:r>
                <a:rPr lang="en-US" sz="1200">
                  <a:effectLst/>
                  <a:latin typeface="Times New Roman" panose="02020603050405020304" pitchFamily="18" charset="0"/>
                  <a:ea typeface="Calibri" panose="020F0502020204030204" pitchFamily="34" charset="0"/>
                </a:rPr>
                <a:t>Staff in charge</a:t>
              </a:r>
            </a:p>
          </p:txBody>
        </p:sp>
        <p:sp>
          <p:nvSpPr>
            <p:cNvPr id="35" name="Text Box 49"/>
            <p:cNvSpPr txBox="1"/>
            <p:nvPr/>
          </p:nvSpPr>
          <p:spPr>
            <a:xfrm>
              <a:off x="2352335" y="3009900"/>
              <a:ext cx="1476375" cy="2857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5000"/>
                </a:lnSpc>
                <a:spcBef>
                  <a:spcPts val="0"/>
                </a:spcBef>
                <a:spcAft>
                  <a:spcPts val="800"/>
                </a:spcAft>
              </a:pPr>
              <a:r>
                <a:rPr lang="en-US" sz="1200">
                  <a:effectLst/>
                  <a:latin typeface="Times New Roman" panose="02020603050405020304" pitchFamily="18" charset="0"/>
                  <a:ea typeface="Calibri" panose="020F0502020204030204" pitchFamily="34" charset="0"/>
                </a:rPr>
                <a:t>Camproctor Server</a:t>
              </a:r>
            </a:p>
          </p:txBody>
        </p:sp>
      </p:grpSp>
    </p:spTree>
    <p:extLst>
      <p:ext uri="{BB962C8B-B14F-4D97-AF65-F5344CB8AC3E}">
        <p14:creationId xmlns:p14="http://schemas.microsoft.com/office/powerpoint/2010/main" val="2688031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D227B-46A8-4DB6-AD4D-254FB8EA72D0}"/>
              </a:ext>
            </a:extLst>
          </p:cNvPr>
          <p:cNvSpPr>
            <a:spLocks noGrp="1"/>
          </p:cNvSpPr>
          <p:nvPr>
            <p:ph type="title"/>
          </p:nvPr>
        </p:nvSpPr>
        <p:spPr>
          <a:xfrm>
            <a:off x="518614" y="1"/>
            <a:ext cx="11091493" cy="586854"/>
          </a:xfrm>
          <a:solidFill>
            <a:schemeClr val="bg1"/>
          </a:solidFill>
          <a:ln>
            <a:solidFill>
              <a:schemeClr val="bg1"/>
            </a:solidFill>
          </a:ln>
        </p:spPr>
        <p:txBody>
          <a:bodyPr anchor="ctr" anchorCtr="0">
            <a:noAutofit/>
          </a:bodyPr>
          <a:lstStyle/>
          <a:p>
            <a:pPr algn="ctr">
              <a:lnSpc>
                <a:spcPct val="150000"/>
              </a:lnSpc>
              <a:buClrTx/>
            </a:pPr>
            <a:r>
              <a:rPr lang="en-US" sz="4000" b="1" dirty="0">
                <a:solidFill>
                  <a:schemeClr val="tx1"/>
                </a:solidFill>
                <a:latin typeface="Times New Roman" panose="02020603050405020304" pitchFamily="18" charset="0"/>
                <a:cs typeface="Times New Roman" panose="02020603050405020304" pitchFamily="18" charset="0"/>
              </a:rPr>
              <a:t>Methodology</a:t>
            </a:r>
          </a:p>
        </p:txBody>
      </p:sp>
      <p:sp>
        <p:nvSpPr>
          <p:cNvPr id="5" name="Content Placeholder 4">
            <a:extLst>
              <a:ext uri="{FF2B5EF4-FFF2-40B4-BE49-F238E27FC236}">
                <a16:creationId xmlns:a16="http://schemas.microsoft.com/office/drawing/2014/main" id="{853940D6-83B6-4DC4-AB1F-B887B00CCAC0}"/>
              </a:ext>
            </a:extLst>
          </p:cNvPr>
          <p:cNvSpPr>
            <a:spLocks noGrp="1"/>
          </p:cNvSpPr>
          <p:nvPr>
            <p:ph idx="1"/>
          </p:nvPr>
        </p:nvSpPr>
        <p:spPr>
          <a:xfrm>
            <a:off x="782319" y="652729"/>
            <a:ext cx="10827788" cy="5524552"/>
          </a:xfrm>
        </p:spPr>
        <p:txBody>
          <a:bodyPr>
            <a:noAutofit/>
          </a:bodyPr>
          <a:lstStyle/>
          <a:p>
            <a:pPr marL="457200" indent="-457200" algn="just">
              <a:buAutoNum type="arabicPeriod"/>
            </a:pPr>
            <a:r>
              <a:rPr lang="en-US" sz="2000" b="1" dirty="0">
                <a:latin typeface="Times New Roman" panose="02020603050405020304" pitchFamily="18" charset="0"/>
                <a:cs typeface="Times New Roman" panose="02020603050405020304" pitchFamily="18" charset="0"/>
              </a:rPr>
              <a:t>Requirement Analysis</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Identify and gather all functional and non-functional requirements from users and stakeholders. This step ensures the system meets the actual needs.</a:t>
            </a:r>
          </a:p>
          <a:p>
            <a:pPr marL="0" indent="0" algn="just">
              <a:buNone/>
            </a:pPr>
            <a:r>
              <a:rPr lang="en-US" sz="2000" b="1" dirty="0">
                <a:latin typeface="Times New Roman" panose="02020603050405020304" pitchFamily="18" charset="0"/>
                <a:cs typeface="Times New Roman" panose="02020603050405020304" pitchFamily="18" charset="0"/>
              </a:rPr>
              <a:t>2. System Design</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Create diagrams and design layouts that define how the system will function, including data flow, interfaces, and architecture.</a:t>
            </a:r>
          </a:p>
          <a:p>
            <a:pPr marL="0" indent="0" algn="just">
              <a:buNone/>
            </a:pPr>
            <a:r>
              <a:rPr lang="en-US" b="1" dirty="0">
                <a:latin typeface="Times New Roman" panose="02020603050405020304" pitchFamily="18" charset="0"/>
                <a:cs typeface="Times New Roman" panose="02020603050405020304" pitchFamily="18" charset="0"/>
              </a:rPr>
              <a:t>3</a:t>
            </a:r>
            <a:r>
              <a:rPr lang="en-US" sz="2000" b="1" dirty="0">
                <a:latin typeface="Times New Roman" panose="02020603050405020304" pitchFamily="18" charset="0"/>
                <a:cs typeface="Times New Roman" panose="02020603050405020304" pitchFamily="18" charset="0"/>
              </a:rPr>
              <a:t>. Testing and Validation</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Verify that the system works correctly and efficiently. Detect and fix errors, and ensure performance meets expectations.</a:t>
            </a:r>
          </a:p>
          <a:p>
            <a:pPr marL="0" indent="0" algn="just">
              <a:buNone/>
            </a:pPr>
            <a:r>
              <a:rPr lang="en-US" b="1" dirty="0">
                <a:latin typeface="Times New Roman" panose="02020603050405020304" pitchFamily="18" charset="0"/>
                <a:cs typeface="Times New Roman" panose="02020603050405020304" pitchFamily="18" charset="0"/>
              </a:rPr>
              <a:t>4</a:t>
            </a:r>
            <a:r>
              <a:rPr lang="en-US" b="1">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Deployment and Maintenance</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Deploy the system for real-world use and provide ongoing support to ensure smooth operation and updates as needed.</a:t>
            </a: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733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D227B-46A8-4DB6-AD4D-254FB8EA72D0}"/>
              </a:ext>
            </a:extLst>
          </p:cNvPr>
          <p:cNvSpPr>
            <a:spLocks noGrp="1"/>
          </p:cNvSpPr>
          <p:nvPr>
            <p:ph type="title"/>
          </p:nvPr>
        </p:nvSpPr>
        <p:spPr>
          <a:xfrm>
            <a:off x="518614" y="1"/>
            <a:ext cx="11091493" cy="586854"/>
          </a:xfrm>
          <a:solidFill>
            <a:schemeClr val="bg1"/>
          </a:solidFill>
          <a:ln>
            <a:solidFill>
              <a:schemeClr val="bg1"/>
            </a:solidFill>
          </a:ln>
        </p:spPr>
        <p:txBody>
          <a:bodyPr anchor="ctr" anchorCtr="0">
            <a:noAutofit/>
          </a:bodyPr>
          <a:lstStyle/>
          <a:p>
            <a:pPr algn="ctr">
              <a:lnSpc>
                <a:spcPct val="150000"/>
              </a:lnSpc>
              <a:buClrTx/>
            </a:pPr>
            <a:r>
              <a:rPr lang="en-US" sz="4000" b="1" dirty="0">
                <a:solidFill>
                  <a:schemeClr val="tx1"/>
                </a:solidFill>
                <a:latin typeface="Times New Roman" panose="02020603050405020304" pitchFamily="18" charset="0"/>
                <a:cs typeface="Times New Roman" panose="02020603050405020304" pitchFamily="18" charset="0"/>
              </a:rPr>
              <a:t>Conclusion</a:t>
            </a:r>
          </a:p>
        </p:txBody>
      </p:sp>
      <p:sp>
        <p:nvSpPr>
          <p:cNvPr id="5" name="Content Placeholder 4">
            <a:extLst>
              <a:ext uri="{FF2B5EF4-FFF2-40B4-BE49-F238E27FC236}">
                <a16:creationId xmlns:a16="http://schemas.microsoft.com/office/drawing/2014/main" id="{853940D6-83B6-4DC4-AB1F-B887B00CCAC0}"/>
              </a:ext>
            </a:extLst>
          </p:cNvPr>
          <p:cNvSpPr>
            <a:spLocks noGrp="1"/>
          </p:cNvSpPr>
          <p:nvPr>
            <p:ph idx="1"/>
          </p:nvPr>
        </p:nvSpPr>
        <p:spPr>
          <a:xfrm>
            <a:off x="518614" y="779873"/>
            <a:ext cx="11313561" cy="5059224"/>
          </a:xfrm>
        </p:spPr>
        <p:txBody>
          <a:bodyPr>
            <a:noAutofit/>
          </a:bodyPr>
          <a:lstStyle/>
          <a:p>
            <a:pPr marL="0" indent="0" algn="just">
              <a:lnSpc>
                <a:spcPct val="150000"/>
              </a:lnSpc>
              <a:buNone/>
            </a:pP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In conclusion, this project provides an efficient, accurate, and user-friendly solution that overcomes the limitations of existing methods. It saves time, reduces errors, enhances productivity, and ensures reliable results, making it a valuable tool for users and organizations alike.</a:t>
            </a:r>
          </a:p>
        </p:txBody>
      </p:sp>
    </p:spTree>
    <p:extLst>
      <p:ext uri="{BB962C8B-B14F-4D97-AF65-F5344CB8AC3E}">
        <p14:creationId xmlns:p14="http://schemas.microsoft.com/office/powerpoint/2010/main" val="691848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857" y="16786"/>
            <a:ext cx="10958286" cy="796018"/>
          </a:xfrm>
          <a:ln>
            <a:noFill/>
          </a:ln>
        </p:spPr>
        <p:txBody>
          <a:bodyPr>
            <a:normAutofit/>
          </a:bodyPr>
          <a:lstStyle/>
          <a:p>
            <a:pPr algn="ctr"/>
            <a:r>
              <a:rPr lang="en-US" sz="4000" b="1" dirty="0">
                <a:latin typeface="Times New Roman" panose="02020603050405020304" pitchFamily="18" charset="0"/>
                <a:ea typeface="Cambria" panose="02040503050406030204" pitchFamily="18" charset="0"/>
                <a:cs typeface="Times New Roman" panose="02020603050405020304" pitchFamily="18" charset="0"/>
              </a:rPr>
              <a:t>References</a:t>
            </a:r>
          </a:p>
        </p:txBody>
      </p:sp>
      <p:sp>
        <p:nvSpPr>
          <p:cNvPr id="3" name="Content Placeholder 2"/>
          <p:cNvSpPr>
            <a:spLocks noGrp="1"/>
          </p:cNvSpPr>
          <p:nvPr>
            <p:ph idx="1"/>
          </p:nvPr>
        </p:nvSpPr>
        <p:spPr>
          <a:xfrm>
            <a:off x="616857" y="851885"/>
            <a:ext cx="10958286" cy="5341257"/>
          </a:xfrm>
        </p:spPr>
        <p:txBody>
          <a:bodyPr>
            <a:normAutofit fontScale="92500"/>
          </a:bodyPr>
          <a:lstStyle/>
          <a:p>
            <a:pPr marL="457200" indent="-457200" algn="just">
              <a:lnSpc>
                <a:spcPct val="150000"/>
              </a:lnSpc>
              <a:buFont typeface="+mj-lt"/>
              <a:buAutoNum type="arabicPeriod"/>
            </a:pPr>
            <a:r>
              <a:rPr lang="en-US" sz="2400" dirty="0" err="1">
                <a:latin typeface="Times New Roman" panose="02020603050405020304" pitchFamily="18" charset="0"/>
                <a:cs typeface="Times New Roman" panose="02020603050405020304" pitchFamily="18" charset="0"/>
              </a:rPr>
              <a:t>Vaswani</a:t>
            </a:r>
            <a:r>
              <a:rPr lang="en-US" sz="2400" dirty="0">
                <a:latin typeface="Times New Roman" panose="02020603050405020304" pitchFamily="18" charset="0"/>
                <a:cs typeface="Times New Roman" panose="02020603050405020304" pitchFamily="18" charset="0"/>
              </a:rPr>
              <a:t>, A. et </a:t>
            </a:r>
            <a:r>
              <a:rPr lang="en-US" sz="2400" dirty="0" err="1">
                <a:latin typeface="Times New Roman" panose="02020603050405020304" pitchFamily="18" charset="0"/>
                <a:cs typeface="Times New Roman" panose="02020603050405020304" pitchFamily="18" charset="0"/>
              </a:rPr>
              <a:t>al.,</a:t>
            </a:r>
            <a:r>
              <a:rPr lang="en-US" sz="2400" i="1" dirty="0" err="1">
                <a:latin typeface="Times New Roman" panose="02020603050405020304" pitchFamily="18" charset="0"/>
                <a:cs typeface="Times New Roman" panose="02020603050405020304" pitchFamily="18" charset="0"/>
              </a:rPr>
              <a:t>“Attention</a:t>
            </a:r>
            <a:r>
              <a:rPr lang="en-US" sz="2400" i="1" dirty="0">
                <a:latin typeface="Times New Roman" panose="02020603050405020304" pitchFamily="18" charset="0"/>
                <a:cs typeface="Times New Roman" panose="02020603050405020304" pitchFamily="18" charset="0"/>
              </a:rPr>
              <a:t> Is All You </a:t>
            </a:r>
            <a:r>
              <a:rPr lang="en-US" sz="2400" i="1" dirty="0" err="1">
                <a:latin typeface="Times New Roman" panose="02020603050405020304" pitchFamily="18" charset="0"/>
                <a:cs typeface="Times New Roman" panose="02020603050405020304" pitchFamily="18" charset="0"/>
              </a:rPr>
              <a:t>Need,”</a:t>
            </a:r>
            <a:r>
              <a:rPr lang="en-US" sz="2400" b="1" dirty="0" err="1">
                <a:latin typeface="Times New Roman" panose="02020603050405020304" pitchFamily="18" charset="0"/>
                <a:cs typeface="Times New Roman" panose="02020603050405020304" pitchFamily="18" charset="0"/>
              </a:rPr>
              <a:t>Advances</a:t>
            </a:r>
            <a:r>
              <a:rPr lang="en-US" sz="2400" b="1" dirty="0">
                <a:latin typeface="Times New Roman" panose="02020603050405020304" pitchFamily="18" charset="0"/>
                <a:cs typeface="Times New Roman" panose="02020603050405020304" pitchFamily="18" charset="0"/>
              </a:rPr>
              <a:t> in Neural Information Processing Systems (</a:t>
            </a:r>
            <a:r>
              <a:rPr lang="en-US" sz="2400" b="1" dirty="0" err="1">
                <a:latin typeface="Times New Roman" panose="02020603050405020304" pitchFamily="18" charset="0"/>
                <a:cs typeface="Times New Roman" panose="02020603050405020304" pitchFamily="18" charset="0"/>
              </a:rPr>
              <a:t>NeurIPS</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2017.</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Tsai, Y.-H. H. et </a:t>
            </a:r>
            <a:r>
              <a:rPr lang="en-US" sz="2400" dirty="0" err="1">
                <a:latin typeface="Times New Roman" panose="02020603050405020304" pitchFamily="18" charset="0"/>
                <a:cs typeface="Times New Roman" panose="02020603050405020304" pitchFamily="18" charset="0"/>
              </a:rPr>
              <a:t>al.,</a:t>
            </a:r>
            <a:r>
              <a:rPr lang="en-US" sz="2400" i="1" dirty="0" err="1">
                <a:latin typeface="Times New Roman" panose="02020603050405020304" pitchFamily="18" charset="0"/>
                <a:cs typeface="Times New Roman" panose="02020603050405020304" pitchFamily="18" charset="0"/>
              </a:rPr>
              <a:t>“Multimodal</a:t>
            </a:r>
            <a:r>
              <a:rPr lang="en-US" sz="2400" i="1" dirty="0">
                <a:latin typeface="Times New Roman" panose="02020603050405020304" pitchFamily="18" charset="0"/>
                <a:cs typeface="Times New Roman" panose="02020603050405020304" pitchFamily="18" charset="0"/>
              </a:rPr>
              <a:t> Transformer for Unaligned Multimodal Language </a:t>
            </a:r>
            <a:r>
              <a:rPr lang="en-US" sz="2400" i="1" dirty="0" err="1">
                <a:latin typeface="Times New Roman" panose="02020603050405020304" pitchFamily="18" charset="0"/>
                <a:cs typeface="Times New Roman" panose="02020603050405020304" pitchFamily="18" charset="0"/>
              </a:rPr>
              <a:t>Sequences,”</a:t>
            </a:r>
            <a:r>
              <a:rPr lang="en-US" sz="2400" b="1" dirty="0" err="1">
                <a:latin typeface="Times New Roman" panose="02020603050405020304" pitchFamily="18" charset="0"/>
                <a:cs typeface="Times New Roman" panose="02020603050405020304" pitchFamily="18" charset="0"/>
              </a:rPr>
              <a:t>ACL</a:t>
            </a:r>
            <a:r>
              <a:rPr lang="en-US" sz="2400" dirty="0">
                <a:latin typeface="Times New Roman" panose="02020603050405020304" pitchFamily="18" charset="0"/>
                <a:cs typeface="Times New Roman" panose="02020603050405020304" pitchFamily="18" charset="0"/>
              </a:rPr>
              <a:t>, 2019.</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Zhang, C., </a:t>
            </a:r>
            <a:r>
              <a:rPr lang="en-US" sz="2400" dirty="0" err="1">
                <a:latin typeface="Times New Roman" panose="02020603050405020304" pitchFamily="18" charset="0"/>
                <a:cs typeface="Times New Roman" panose="02020603050405020304" pitchFamily="18" charset="0"/>
              </a:rPr>
              <a:t>Bengio</a:t>
            </a:r>
            <a:r>
              <a:rPr lang="en-US" sz="2400" dirty="0">
                <a:latin typeface="Times New Roman" panose="02020603050405020304" pitchFamily="18" charset="0"/>
                <a:cs typeface="Times New Roman" panose="02020603050405020304" pitchFamily="18" charset="0"/>
              </a:rPr>
              <a:t>, S., </a:t>
            </a:r>
            <a:r>
              <a:rPr lang="en-US" sz="2400" dirty="0" err="1">
                <a:latin typeface="Times New Roman" panose="02020603050405020304" pitchFamily="18" charset="0"/>
                <a:cs typeface="Times New Roman" panose="02020603050405020304" pitchFamily="18" charset="0"/>
              </a:rPr>
              <a:t>Hardt</a:t>
            </a:r>
            <a:r>
              <a:rPr lang="en-US" sz="2400" dirty="0">
                <a:latin typeface="Times New Roman" panose="02020603050405020304" pitchFamily="18" charset="0"/>
                <a:cs typeface="Times New Roman" panose="02020603050405020304" pitchFamily="18" charset="0"/>
              </a:rPr>
              <a:t>, M., </a:t>
            </a:r>
            <a:r>
              <a:rPr lang="en-US" sz="2400" dirty="0" err="1">
                <a:latin typeface="Times New Roman" panose="02020603050405020304" pitchFamily="18" charset="0"/>
                <a:cs typeface="Times New Roman" panose="02020603050405020304" pitchFamily="18" charset="0"/>
              </a:rPr>
              <a:t>Recht</a:t>
            </a:r>
            <a:r>
              <a:rPr lang="en-US" sz="2400" dirty="0">
                <a:latin typeface="Times New Roman" panose="02020603050405020304" pitchFamily="18" charset="0"/>
                <a:cs typeface="Times New Roman" panose="02020603050405020304" pitchFamily="18" charset="0"/>
              </a:rPr>
              <a:t>, B., &amp; </a:t>
            </a:r>
            <a:r>
              <a:rPr lang="en-US" sz="2400" dirty="0" err="1">
                <a:latin typeface="Times New Roman" panose="02020603050405020304" pitchFamily="18" charset="0"/>
                <a:cs typeface="Times New Roman" panose="02020603050405020304" pitchFamily="18" charset="0"/>
              </a:rPr>
              <a:t>Vinyals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a:t>
            </a:r>
            <a:r>
              <a:rPr lang="en-US" sz="2400" i="1" dirty="0" err="1">
                <a:latin typeface="Times New Roman" panose="02020603050405020304" pitchFamily="18" charset="0"/>
                <a:cs typeface="Times New Roman" panose="02020603050405020304" pitchFamily="18" charset="0"/>
              </a:rPr>
              <a:t>“Understanding</a:t>
            </a:r>
            <a:r>
              <a:rPr lang="en-US" sz="2400" i="1" dirty="0">
                <a:latin typeface="Times New Roman" panose="02020603050405020304" pitchFamily="18" charset="0"/>
                <a:cs typeface="Times New Roman" panose="02020603050405020304" pitchFamily="18" charset="0"/>
              </a:rPr>
              <a:t> Deep Learning Requires Rethinking </a:t>
            </a:r>
            <a:r>
              <a:rPr lang="en-US" sz="2400" i="1" dirty="0" err="1">
                <a:latin typeface="Times New Roman" panose="02020603050405020304" pitchFamily="18" charset="0"/>
                <a:cs typeface="Times New Roman" panose="02020603050405020304" pitchFamily="18" charset="0"/>
              </a:rPr>
              <a:t>Generalization,”</a:t>
            </a:r>
            <a:r>
              <a:rPr lang="en-US" sz="2400" b="1" dirty="0" err="1">
                <a:latin typeface="Times New Roman" panose="02020603050405020304" pitchFamily="18" charset="0"/>
                <a:cs typeface="Times New Roman" panose="02020603050405020304" pitchFamily="18" charset="0"/>
              </a:rPr>
              <a:t>ICLR</a:t>
            </a:r>
            <a:r>
              <a:rPr lang="en-US" sz="2400" dirty="0">
                <a:latin typeface="Times New Roman" panose="02020603050405020304" pitchFamily="18" charset="0"/>
                <a:cs typeface="Times New Roman" panose="02020603050405020304" pitchFamily="18" charset="0"/>
              </a:rPr>
              <a:t>, 2017.</a:t>
            </a:r>
          </a:p>
          <a:p>
            <a:pPr marL="457200" indent="-457200" algn="just">
              <a:lnSpc>
                <a:spcPct val="150000"/>
              </a:lnSpc>
              <a:buFont typeface="+mj-lt"/>
              <a:buAutoNum type="arabicPeriod"/>
            </a:pPr>
            <a:r>
              <a:rPr lang="en-US" sz="2400" dirty="0" err="1">
                <a:latin typeface="Times New Roman" panose="02020603050405020304" pitchFamily="18" charset="0"/>
                <a:cs typeface="Times New Roman" panose="02020603050405020304" pitchFamily="18" charset="0"/>
              </a:rPr>
              <a:t>Kingma</a:t>
            </a:r>
            <a:r>
              <a:rPr lang="en-US" sz="2400" dirty="0">
                <a:latin typeface="Times New Roman" panose="02020603050405020304" pitchFamily="18" charset="0"/>
                <a:cs typeface="Times New Roman" panose="02020603050405020304" pitchFamily="18" charset="0"/>
              </a:rPr>
              <a:t>, D. P., &amp; Ba, </a:t>
            </a:r>
            <a:r>
              <a:rPr lang="en-US" sz="2400" dirty="0" err="1">
                <a:latin typeface="Times New Roman" panose="02020603050405020304" pitchFamily="18" charset="0"/>
                <a:cs typeface="Times New Roman" panose="02020603050405020304" pitchFamily="18" charset="0"/>
              </a:rPr>
              <a:t>J.,</a:t>
            </a:r>
            <a:r>
              <a:rPr lang="en-US" sz="2400" i="1" dirty="0" err="1">
                <a:latin typeface="Times New Roman" panose="02020603050405020304" pitchFamily="18" charset="0"/>
                <a:cs typeface="Times New Roman" panose="02020603050405020304" pitchFamily="18" charset="0"/>
              </a:rPr>
              <a:t>“Adam</a:t>
            </a:r>
            <a:r>
              <a:rPr lang="en-US" sz="2400" i="1" dirty="0">
                <a:latin typeface="Times New Roman" panose="02020603050405020304" pitchFamily="18" charset="0"/>
                <a:cs typeface="Times New Roman" panose="02020603050405020304" pitchFamily="18" charset="0"/>
              </a:rPr>
              <a:t>: A Method for Stochastic </a:t>
            </a:r>
            <a:r>
              <a:rPr lang="en-US" sz="2400" i="1" dirty="0" err="1">
                <a:latin typeface="Times New Roman" panose="02020603050405020304" pitchFamily="18" charset="0"/>
                <a:cs typeface="Times New Roman" panose="02020603050405020304" pitchFamily="18" charset="0"/>
              </a:rPr>
              <a:t>Optimization,”</a:t>
            </a:r>
            <a:r>
              <a:rPr lang="en-US" sz="2400" b="1" dirty="0" err="1">
                <a:latin typeface="Times New Roman" panose="02020603050405020304" pitchFamily="18" charset="0"/>
                <a:cs typeface="Times New Roman" panose="02020603050405020304" pitchFamily="18" charset="0"/>
              </a:rPr>
              <a:t>ICLR</a:t>
            </a:r>
            <a:r>
              <a:rPr lang="en-US" sz="2400" dirty="0">
                <a:latin typeface="Times New Roman" panose="02020603050405020304" pitchFamily="18" charset="0"/>
                <a:cs typeface="Times New Roman" panose="02020603050405020304" pitchFamily="18" charset="0"/>
              </a:rPr>
              <a:t>, 2015.</a:t>
            </a:r>
          </a:p>
          <a:p>
            <a:pPr marL="457200" indent="-457200" algn="just">
              <a:lnSpc>
                <a:spcPct val="150000"/>
              </a:lnSpc>
              <a:buFont typeface="+mj-lt"/>
              <a:buAutoNum type="arabicPeriod"/>
            </a:pPr>
            <a:r>
              <a:rPr lang="en-US" sz="2400" dirty="0" err="1">
                <a:latin typeface="Times New Roman" panose="02020603050405020304" pitchFamily="18" charset="0"/>
                <a:cs typeface="Times New Roman" panose="02020603050405020304" pitchFamily="18" charset="0"/>
              </a:rPr>
              <a:t>Schroff</a:t>
            </a:r>
            <a:r>
              <a:rPr lang="en-US" sz="2400" dirty="0">
                <a:latin typeface="Times New Roman" panose="02020603050405020304" pitchFamily="18" charset="0"/>
                <a:cs typeface="Times New Roman" panose="02020603050405020304" pitchFamily="18" charset="0"/>
              </a:rPr>
              <a:t>, F., </a:t>
            </a:r>
            <a:r>
              <a:rPr lang="en-US" sz="2400" dirty="0" err="1">
                <a:latin typeface="Times New Roman" panose="02020603050405020304" pitchFamily="18" charset="0"/>
                <a:cs typeface="Times New Roman" panose="02020603050405020304" pitchFamily="18" charset="0"/>
              </a:rPr>
              <a:t>Kalenichenko</a:t>
            </a:r>
            <a:r>
              <a:rPr lang="en-US" sz="2400" dirty="0">
                <a:latin typeface="Times New Roman" panose="02020603050405020304" pitchFamily="18" charset="0"/>
                <a:cs typeface="Times New Roman" panose="02020603050405020304" pitchFamily="18" charset="0"/>
              </a:rPr>
              <a:t>, D., &amp; </a:t>
            </a:r>
            <a:r>
              <a:rPr lang="en-US" sz="2400" dirty="0" err="1">
                <a:latin typeface="Times New Roman" panose="02020603050405020304" pitchFamily="18" charset="0"/>
                <a:cs typeface="Times New Roman" panose="02020603050405020304" pitchFamily="18" charset="0"/>
              </a:rPr>
              <a:t>Philbin</a:t>
            </a:r>
            <a:r>
              <a:rPr lang="en-US" sz="2400" dirty="0">
                <a:latin typeface="Times New Roman" panose="02020603050405020304" pitchFamily="18" charset="0"/>
                <a:cs typeface="Times New Roman" panose="02020603050405020304" pitchFamily="18" charset="0"/>
              </a:rPr>
              <a:t>, J.,</a:t>
            </a:r>
            <a:r>
              <a:rPr lang="en-US" sz="2400" i="1" dirty="0">
                <a:latin typeface="Times New Roman" panose="02020603050405020304" pitchFamily="18" charset="0"/>
                <a:cs typeface="Times New Roman" panose="02020603050405020304" pitchFamily="18" charset="0"/>
              </a:rPr>
              <a:t>“</a:t>
            </a:r>
            <a:r>
              <a:rPr lang="en-US" sz="2400" i="1" dirty="0" err="1">
                <a:latin typeface="Times New Roman" panose="02020603050405020304" pitchFamily="18" charset="0"/>
                <a:cs typeface="Times New Roman" panose="02020603050405020304" pitchFamily="18" charset="0"/>
              </a:rPr>
              <a:t>FaceNet</a:t>
            </a:r>
            <a:r>
              <a:rPr lang="en-US" sz="2400" i="1" dirty="0">
                <a:latin typeface="Times New Roman" panose="02020603050405020304" pitchFamily="18" charset="0"/>
                <a:cs typeface="Times New Roman" panose="02020603050405020304" pitchFamily="18" charset="0"/>
              </a:rPr>
              <a:t>: A Unified Embedding for Face Recognition and </a:t>
            </a:r>
            <a:r>
              <a:rPr lang="en-US" sz="2400" i="1" dirty="0" err="1">
                <a:latin typeface="Times New Roman" panose="02020603050405020304" pitchFamily="18" charset="0"/>
                <a:cs typeface="Times New Roman" panose="02020603050405020304" pitchFamily="18" charset="0"/>
              </a:rPr>
              <a:t>Clustering,”</a:t>
            </a:r>
            <a:r>
              <a:rPr lang="en-US" sz="2400" b="1" dirty="0" err="1">
                <a:latin typeface="Times New Roman" panose="02020603050405020304" pitchFamily="18" charset="0"/>
                <a:cs typeface="Times New Roman" panose="02020603050405020304" pitchFamily="18" charset="0"/>
              </a:rPr>
              <a:t>CVPR</a:t>
            </a:r>
            <a:r>
              <a:rPr lang="en-US" sz="2400" dirty="0">
                <a:latin typeface="Times New Roman" panose="02020603050405020304" pitchFamily="18" charset="0"/>
                <a:cs typeface="Times New Roman" panose="02020603050405020304" pitchFamily="18" charset="0"/>
              </a:rPr>
              <a:t>, 2015.</a:t>
            </a:r>
          </a:p>
        </p:txBody>
      </p:sp>
    </p:spTree>
    <p:extLst>
      <p:ext uri="{BB962C8B-B14F-4D97-AF65-F5344CB8AC3E}">
        <p14:creationId xmlns:p14="http://schemas.microsoft.com/office/powerpoint/2010/main" val="362017352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3524</TotalTime>
  <Words>846</Words>
  <Application>Microsoft Office PowerPoint</Application>
  <PresentationFormat>Widescreen</PresentationFormat>
  <Paragraphs>84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Cambria</vt:lpstr>
      <vt:lpstr>Gill Sans MT</vt:lpstr>
      <vt:lpstr>Times New Roman</vt:lpstr>
      <vt:lpstr>Gallery</vt:lpstr>
      <vt:lpstr>Remote Exam Integrity through Advanced AI and Camera Vision Techniques   SETHUBPATHY G V RA2432241010309 MCA II ‘E’</vt:lpstr>
      <vt:lpstr>Abstract</vt:lpstr>
      <vt:lpstr>Problems Identified</vt:lpstr>
      <vt:lpstr>Objective</vt:lpstr>
      <vt:lpstr>Existing System</vt:lpstr>
      <vt:lpstr>Disadvantages</vt:lpstr>
      <vt:lpstr>Proposed System</vt:lpstr>
      <vt:lpstr>Advantages</vt:lpstr>
      <vt:lpstr>System Architecture</vt:lpstr>
      <vt:lpstr>Methodology</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PREVENTING CYBERBULLING USING MACHINE LEARNING</dc:title>
  <dc:creator>Lalitha V</dc:creator>
  <cp:lastModifiedBy>Rahul Prasanna</cp:lastModifiedBy>
  <cp:revision>218</cp:revision>
  <dcterms:created xsi:type="dcterms:W3CDTF">2020-10-02T06:38:54Z</dcterms:created>
  <dcterms:modified xsi:type="dcterms:W3CDTF">2026-04-07T05:01:19Z</dcterms:modified>
</cp:coreProperties>
</file>